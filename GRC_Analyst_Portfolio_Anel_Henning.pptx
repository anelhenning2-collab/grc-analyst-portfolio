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0" y="411480"/>
            <a:ext cx="164592" cy="164592"/>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38560" y="411480"/>
            <a:ext cx="164592" cy="164592"/>
          </a:xfrm>
          <a:prstGeom prst="ellipse">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704320" y="411480"/>
            <a:ext cx="164592" cy="164592"/>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972800" y="777240"/>
            <a:ext cx="164592" cy="164592"/>
          </a:xfrm>
          <a:prstGeom prst="ellipse">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0" y="777240"/>
            <a:ext cx="164592" cy="164592"/>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04320" y="777240"/>
            <a:ext cx="164592" cy="164592"/>
          </a:xfrm>
          <a:prstGeom prst="ellipse">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63040"/>
            <a:ext cx="10058400" cy="1188720"/>
          </a:xfrm>
          <a:prstGeom prst="rect">
            <a:avLst/>
          </a:prstGeom>
          <a:noFill/>
        </p:spPr>
        <p:txBody>
          <a:bodyPr wrap="square">
            <a:spAutoFit/>
          </a:bodyPr>
          <a:lstStyle/>
          <a:p>
            <a:pPr algn="l"/>
            <a:r>
              <a:rPr sz="6800" b="1" i="0">
                <a:solidFill>
                  <a:srgbClr val="FFFFFF"/>
                </a:solidFill>
                <a:latin typeface="Calibri"/>
              </a:rPr>
              <a:t>GRC ANALYST</a:t>
            </a:r>
          </a:p>
        </p:txBody>
      </p:sp>
      <p:sp>
        <p:nvSpPr>
          <p:cNvPr id="10" name="TextBox 9"/>
          <p:cNvSpPr txBox="1"/>
          <p:nvPr/>
        </p:nvSpPr>
        <p:spPr>
          <a:xfrm>
            <a:off x="685800" y="2560320"/>
            <a:ext cx="9144000" cy="640080"/>
          </a:xfrm>
          <a:prstGeom prst="rect">
            <a:avLst/>
          </a:prstGeom>
          <a:noFill/>
        </p:spPr>
        <p:txBody>
          <a:bodyPr wrap="square">
            <a:spAutoFit/>
          </a:bodyPr>
          <a:lstStyle/>
          <a:p>
            <a:pPr algn="l"/>
            <a:r>
              <a:rPr sz="2800" b="0" i="0">
                <a:solidFill>
                  <a:srgbClr val="CADCFC"/>
                </a:solidFill>
                <a:latin typeface="Calibri"/>
              </a:rPr>
              <a:t>INTERVIEW PORTFOLIO</a:t>
            </a:r>
          </a:p>
        </p:txBody>
      </p:sp>
      <p:sp>
        <p:nvSpPr>
          <p:cNvPr id="11" name="Rectangle 10"/>
          <p:cNvSpPr/>
          <p:nvPr/>
        </p:nvSpPr>
        <p:spPr>
          <a:xfrm>
            <a:off x="640080" y="3291840"/>
            <a:ext cx="5486400" cy="54864"/>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20440"/>
            <a:ext cx="10058400" cy="502920"/>
          </a:xfrm>
          <a:prstGeom prst="rect">
            <a:avLst/>
          </a:prstGeom>
          <a:noFill/>
        </p:spPr>
        <p:txBody>
          <a:bodyPr wrap="square">
            <a:spAutoFit/>
          </a:bodyPr>
          <a:lstStyle/>
          <a:p>
            <a:pPr algn="l"/>
            <a:r>
              <a:rPr sz="1800" b="0" i="0">
                <a:solidFill>
                  <a:srgbClr val="CADCFC"/>
                </a:solidFill>
                <a:latin typeface="Calibri"/>
              </a:rPr>
              <a:t>Anél Henning  |  Governance · Risk · Compliance</a:t>
            </a:r>
          </a:p>
        </p:txBody>
      </p:sp>
      <p:sp>
        <p:nvSpPr>
          <p:cNvPr id="13" name="Rounded Rectangle 12"/>
          <p:cNvSpPr/>
          <p:nvPr/>
        </p:nvSpPr>
        <p:spPr>
          <a:xfrm>
            <a:off x="685800" y="4206240"/>
            <a:ext cx="1920240" cy="411480"/>
          </a:xfrm>
          <a:prstGeom prst="round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33672"/>
            <a:ext cx="1737360" cy="347472"/>
          </a:xfrm>
          <a:prstGeom prst="rect">
            <a:avLst/>
          </a:prstGeom>
          <a:noFill/>
        </p:spPr>
        <p:txBody>
          <a:bodyPr wrap="square">
            <a:spAutoFit/>
          </a:bodyPr>
          <a:lstStyle/>
          <a:p>
            <a:pPr algn="ctr"/>
            <a:r>
              <a:rPr sz="1500" b="1" i="0">
                <a:solidFill>
                  <a:srgbClr val="FFFFFF"/>
                </a:solidFill>
                <a:latin typeface="Calibri"/>
              </a:rPr>
              <a:t>Healthcare</a:t>
            </a:r>
          </a:p>
        </p:txBody>
      </p:sp>
      <p:sp>
        <p:nvSpPr>
          <p:cNvPr id="15" name="Rounded Rectangle 14"/>
          <p:cNvSpPr/>
          <p:nvPr/>
        </p:nvSpPr>
        <p:spPr>
          <a:xfrm>
            <a:off x="2971800" y="4206240"/>
            <a:ext cx="1920240" cy="411480"/>
          </a:xfrm>
          <a:prstGeom prst="roundRect">
            <a:avLst/>
          </a:prstGeom>
          <a:solidFill>
            <a:srgbClr val="175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63240" y="4233672"/>
            <a:ext cx="1737360" cy="347472"/>
          </a:xfrm>
          <a:prstGeom prst="rect">
            <a:avLst/>
          </a:prstGeom>
          <a:noFill/>
        </p:spPr>
        <p:txBody>
          <a:bodyPr wrap="square">
            <a:spAutoFit/>
          </a:bodyPr>
          <a:lstStyle/>
          <a:p>
            <a:pPr algn="ctr"/>
            <a:r>
              <a:rPr sz="1500" b="1" i="0">
                <a:solidFill>
                  <a:srgbClr val="FFFFFF"/>
                </a:solidFill>
                <a:latin typeface="Calibri"/>
              </a:rPr>
              <a:t>Insurance</a:t>
            </a:r>
          </a:p>
        </p:txBody>
      </p:sp>
      <p:sp>
        <p:nvSpPr>
          <p:cNvPr id="17" name="Rounded Rectangle 16"/>
          <p:cNvSpPr/>
          <p:nvPr/>
        </p:nvSpPr>
        <p:spPr>
          <a:xfrm>
            <a:off x="5257800" y="4206240"/>
            <a:ext cx="1920240" cy="411480"/>
          </a:xfrm>
          <a:prstGeom prst="roundRect">
            <a:avLst/>
          </a:prstGeom>
          <a:solidFill>
            <a:srgbClr val="4B3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4233672"/>
            <a:ext cx="1737360" cy="347472"/>
          </a:xfrm>
          <a:prstGeom prst="rect">
            <a:avLst/>
          </a:prstGeom>
          <a:noFill/>
        </p:spPr>
        <p:txBody>
          <a:bodyPr wrap="square">
            <a:spAutoFit/>
          </a:bodyPr>
          <a:lstStyle/>
          <a:p>
            <a:pPr algn="ctr"/>
            <a:r>
              <a:rPr sz="1500" b="1" i="0">
                <a:solidFill>
                  <a:srgbClr val="FFFFFF"/>
                </a:solidFill>
                <a:latin typeface="Calibri"/>
              </a:rPr>
              <a:t>Federal</a:t>
            </a:r>
          </a:p>
        </p:txBody>
      </p:sp>
      <p:sp>
        <p:nvSpPr>
          <p:cNvPr id="19" name="TextBox 18"/>
          <p:cNvSpPr txBox="1"/>
          <p:nvPr/>
        </p:nvSpPr>
        <p:spPr>
          <a:xfrm>
            <a:off x="685800" y="6126480"/>
            <a:ext cx="10972800" cy="457200"/>
          </a:xfrm>
          <a:prstGeom prst="rect">
            <a:avLst/>
          </a:prstGeom>
          <a:noFill/>
        </p:spPr>
        <p:txBody>
          <a:bodyPr wrap="square">
            <a:spAutoFit/>
          </a:bodyPr>
          <a:lstStyle/>
          <a:p>
            <a:pPr algn="l"/>
            <a:r>
              <a:rPr sz="1800" b="0" i="1">
                <a:solidFill>
                  <a:srgbClr val="55657A"/>
                </a:solidFill>
                <a:latin typeface="Calibri"/>
              </a:rPr>
              <a:t>Each portfolio piece backed by a STAR scenario — Situation · Task · Action · Result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9144000" cy="640080"/>
          </a:xfrm>
          <a:prstGeom prst="rect">
            <a:avLst/>
          </a:prstGeom>
          <a:noFill/>
        </p:spPr>
        <p:txBody>
          <a:bodyPr wrap="square">
            <a:spAutoFit/>
          </a:bodyPr>
          <a:lstStyle/>
          <a:p>
            <a:pPr algn="l"/>
            <a:r>
              <a:rPr sz="2600" b="1" i="0">
                <a:solidFill>
                  <a:srgbClr val="FFFFFF"/>
                </a:solidFill>
                <a:latin typeface="Calibri"/>
              </a:rPr>
              <a:t>What I Bring to Your Team</a:t>
            </a:r>
          </a:p>
        </p:txBody>
      </p:sp>
      <p:sp>
        <p:nvSpPr>
          <p:cNvPr id="4" name="TextBox 3"/>
          <p:cNvSpPr txBox="1"/>
          <p:nvPr/>
        </p:nvSpPr>
        <p:spPr>
          <a:xfrm>
            <a:off x="365760" y="1188720"/>
            <a:ext cx="11430000" cy="457200"/>
          </a:xfrm>
          <a:prstGeom prst="rect">
            <a:avLst/>
          </a:prstGeom>
          <a:noFill/>
        </p:spPr>
        <p:txBody>
          <a:bodyPr wrap="square">
            <a:spAutoFit/>
          </a:bodyPr>
          <a:lstStyle/>
          <a:p>
            <a:pPr algn="l"/>
            <a:r>
              <a:rPr sz="1500" b="0" i="0">
                <a:solidFill>
                  <a:srgbClr val="55657A"/>
                </a:solidFill>
                <a:latin typeface="Calibri"/>
              </a:rPr>
              <a:t>Each capability is portfolio-documented with a real-world STAR scenario and supporting work product.</a:t>
            </a:r>
          </a:p>
        </p:txBody>
      </p:sp>
      <p:sp>
        <p:nvSpPr>
          <p:cNvPr id="5" name="Rectangle 4"/>
          <p:cNvSpPr/>
          <p:nvPr/>
        </p:nvSpPr>
        <p:spPr>
          <a:xfrm>
            <a:off x="274320" y="1828800"/>
            <a:ext cx="3749039" cy="4480560"/>
          </a:xfrm>
          <a:prstGeom prst="rect">
            <a:avLst/>
          </a:prstGeom>
          <a:solidFill>
            <a:srgbClr val="EE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828800"/>
            <a:ext cx="3749039" cy="4572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874519"/>
            <a:ext cx="3566160" cy="384048"/>
          </a:xfrm>
          <a:prstGeom prst="rect">
            <a:avLst/>
          </a:prstGeom>
          <a:noFill/>
        </p:spPr>
        <p:txBody>
          <a:bodyPr wrap="square">
            <a:spAutoFit/>
          </a:bodyPr>
          <a:lstStyle/>
          <a:p>
            <a:pPr algn="l"/>
            <a:r>
              <a:rPr sz="1800" b="1" i="0">
                <a:solidFill>
                  <a:srgbClr val="FFFFFF"/>
                </a:solidFill>
                <a:latin typeface="Calibri"/>
              </a:rPr>
              <a:t>HEALTHCARE</a:t>
            </a:r>
          </a:p>
        </p:txBody>
      </p:sp>
      <p:sp>
        <p:nvSpPr>
          <p:cNvPr id="8" name="TextBox 7"/>
          <p:cNvSpPr txBox="1"/>
          <p:nvPr/>
        </p:nvSpPr>
        <p:spPr>
          <a:xfrm>
            <a:off x="438912" y="2423160"/>
            <a:ext cx="3474720" cy="3749039"/>
          </a:xfrm>
          <a:prstGeom prst="rect">
            <a:avLst/>
          </a:prstGeom>
          <a:noFill/>
        </p:spPr>
        <p:txBody>
          <a:bodyPr wrap="square">
            <a:spAutoFit/>
          </a:bodyPr>
          <a:lstStyle/>
          <a:p>
            <a:pPr algn="l">
              <a:spcAft>
                <a:spcPts val="600"/>
              </a:spcAft>
            </a:pPr>
            <a:r>
              <a:rPr sz="1800">
                <a:solidFill>
                  <a:srgbClr val="1E273D"/>
                </a:solidFill>
                <a:latin typeface="Calibri"/>
              </a:rPr>
              <a:t>▸  HIPAA Security Rule § 164.308 – 164.312</a:t>
            </a:r>
          </a:p>
          <a:p>
            <a:pPr algn="l">
              <a:spcAft>
                <a:spcPts val="600"/>
              </a:spcAft>
            </a:pPr>
            <a:r>
              <a:rPr sz="1800">
                <a:solidFill>
                  <a:srgbClr val="1E273D"/>
                </a:solidFill>
                <a:latin typeface="Calibri"/>
              </a:rPr>
              <a:t>▸  PHI data classification aligned to clinical workflows</a:t>
            </a:r>
          </a:p>
          <a:p>
            <a:pPr algn="l">
              <a:spcAft>
                <a:spcPts val="600"/>
              </a:spcAft>
            </a:pPr>
            <a:r>
              <a:rPr sz="1800">
                <a:solidFill>
                  <a:srgbClr val="1E273D"/>
                </a:solidFill>
                <a:latin typeface="Calibri"/>
              </a:rPr>
              <a:t>▸  Breach notification under 45 CFR § 164.404</a:t>
            </a:r>
          </a:p>
          <a:p>
            <a:pPr algn="l">
              <a:spcAft>
                <a:spcPts val="600"/>
              </a:spcAft>
            </a:pPr>
            <a:r>
              <a:rPr sz="1800">
                <a:solidFill>
                  <a:srgbClr val="1E273D"/>
                </a:solidFill>
                <a:latin typeface="Calibri"/>
              </a:rPr>
              <a:t>▸  Policy development reviewed with HIM &amp; clinical teams</a:t>
            </a:r>
          </a:p>
          <a:p>
            <a:pPr algn="l">
              <a:spcAft>
                <a:spcPts val="600"/>
              </a:spcAft>
            </a:pPr>
            <a:r>
              <a:rPr sz="1800">
                <a:solidFill>
                  <a:srgbClr val="1E273D"/>
                </a:solidFill>
                <a:latin typeface="Calibri"/>
              </a:rPr>
              <a:t>▸  Cross-functional collaboration: IT, Legal, CMO, Compliance</a:t>
            </a:r>
          </a:p>
        </p:txBody>
      </p:sp>
      <p:sp>
        <p:nvSpPr>
          <p:cNvPr id="9" name="Rectangle 8"/>
          <p:cNvSpPr/>
          <p:nvPr/>
        </p:nvSpPr>
        <p:spPr>
          <a:xfrm>
            <a:off x="4251959" y="1828800"/>
            <a:ext cx="3749039" cy="4480560"/>
          </a:xfrm>
          <a:prstGeom prst="rect">
            <a:avLst/>
          </a:prstGeom>
          <a:solidFill>
            <a:srgbClr val="EE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59" y="1828800"/>
            <a:ext cx="3749039" cy="457200"/>
          </a:xfrm>
          <a:prstGeom prst="rect">
            <a:avLst/>
          </a:prstGeom>
          <a:solidFill>
            <a:srgbClr val="175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61688" y="1874519"/>
            <a:ext cx="3566160" cy="384048"/>
          </a:xfrm>
          <a:prstGeom prst="rect">
            <a:avLst/>
          </a:prstGeom>
          <a:noFill/>
        </p:spPr>
        <p:txBody>
          <a:bodyPr wrap="square">
            <a:spAutoFit/>
          </a:bodyPr>
          <a:lstStyle/>
          <a:p>
            <a:pPr algn="l"/>
            <a:r>
              <a:rPr sz="1800" b="1" i="0">
                <a:solidFill>
                  <a:srgbClr val="FFFFFF"/>
                </a:solidFill>
                <a:latin typeface="Calibri"/>
              </a:rPr>
              <a:t>INSURANCE</a:t>
            </a:r>
          </a:p>
        </p:txBody>
      </p:sp>
      <p:sp>
        <p:nvSpPr>
          <p:cNvPr id="12" name="TextBox 11"/>
          <p:cNvSpPr txBox="1"/>
          <p:nvPr/>
        </p:nvSpPr>
        <p:spPr>
          <a:xfrm>
            <a:off x="4416551" y="2423160"/>
            <a:ext cx="3474720" cy="3749039"/>
          </a:xfrm>
          <a:prstGeom prst="rect">
            <a:avLst/>
          </a:prstGeom>
          <a:noFill/>
        </p:spPr>
        <p:txBody>
          <a:bodyPr wrap="square">
            <a:spAutoFit/>
          </a:bodyPr>
          <a:lstStyle/>
          <a:p>
            <a:pPr algn="l">
              <a:spcAft>
                <a:spcPts val="600"/>
              </a:spcAft>
            </a:pPr>
            <a:r>
              <a:rPr sz="1800">
                <a:solidFill>
                  <a:srgbClr val="1E273D"/>
                </a:solidFill>
                <a:latin typeface="Calibri"/>
              </a:rPr>
              <a:t>▸  NAIC Insurance Data Security Model Law compliance</a:t>
            </a:r>
          </a:p>
          <a:p>
            <a:pPr algn="l">
              <a:spcAft>
                <a:spcPts val="600"/>
              </a:spcAft>
            </a:pPr>
            <a:r>
              <a:rPr sz="1800">
                <a:solidFill>
                  <a:srgbClr val="1E273D"/>
                </a:solidFill>
                <a:latin typeface="Calibri"/>
              </a:rPr>
              <a:t>▸  Security awareness tailored to claims &amp; underwriting staff</a:t>
            </a:r>
          </a:p>
          <a:p>
            <a:pPr algn="l">
              <a:spcAft>
                <a:spcPts val="600"/>
              </a:spcAft>
            </a:pPr>
            <a:r>
              <a:rPr sz="1800">
                <a:solidFill>
                  <a:srgbClr val="1E273D"/>
                </a:solidFill>
                <a:latin typeface="Calibri"/>
              </a:rPr>
              <a:t>▸  Phishing risk reduction with measurable simulation metrics</a:t>
            </a:r>
          </a:p>
          <a:p>
            <a:pPr algn="l">
              <a:spcAft>
                <a:spcPts val="600"/>
              </a:spcAft>
            </a:pPr>
            <a:r>
              <a:rPr sz="1800">
                <a:solidFill>
                  <a:srgbClr val="1E273D"/>
                </a:solidFill>
                <a:latin typeface="Calibri"/>
              </a:rPr>
              <a:t>▸  Policyholder PII handling policy and procedure</a:t>
            </a:r>
          </a:p>
          <a:p>
            <a:pPr algn="l">
              <a:spcAft>
                <a:spcPts val="600"/>
              </a:spcAft>
            </a:pPr>
            <a:r>
              <a:rPr sz="1800">
                <a:solidFill>
                  <a:srgbClr val="1E273D"/>
                </a:solidFill>
                <a:latin typeface="Calibri"/>
              </a:rPr>
              <a:t>▸  Regulatory examination readiness (state DOI)</a:t>
            </a:r>
          </a:p>
        </p:txBody>
      </p:sp>
      <p:sp>
        <p:nvSpPr>
          <p:cNvPr id="13" name="Rectangle 12"/>
          <p:cNvSpPr/>
          <p:nvPr/>
        </p:nvSpPr>
        <p:spPr>
          <a:xfrm>
            <a:off x="8229600" y="1828800"/>
            <a:ext cx="3749039" cy="4480560"/>
          </a:xfrm>
          <a:prstGeom prst="rect">
            <a:avLst/>
          </a:prstGeom>
          <a:solidFill>
            <a:srgbClr val="EE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828800"/>
            <a:ext cx="3749039" cy="457200"/>
          </a:xfrm>
          <a:prstGeom prst="rect">
            <a:avLst/>
          </a:prstGeom>
          <a:solidFill>
            <a:srgbClr val="4B3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1874519"/>
            <a:ext cx="3566160" cy="384048"/>
          </a:xfrm>
          <a:prstGeom prst="rect">
            <a:avLst/>
          </a:prstGeom>
          <a:noFill/>
        </p:spPr>
        <p:txBody>
          <a:bodyPr wrap="square">
            <a:spAutoFit/>
          </a:bodyPr>
          <a:lstStyle/>
          <a:p>
            <a:pPr algn="l"/>
            <a:r>
              <a:rPr sz="1800" b="1" i="0">
                <a:solidFill>
                  <a:srgbClr val="FFFFFF"/>
                </a:solidFill>
                <a:latin typeface="Calibri"/>
              </a:rPr>
              <a:t>FEDERAL / GOVERNMENT</a:t>
            </a:r>
          </a:p>
        </p:txBody>
      </p:sp>
      <p:sp>
        <p:nvSpPr>
          <p:cNvPr id="16" name="TextBox 15"/>
          <p:cNvSpPr txBox="1"/>
          <p:nvPr/>
        </p:nvSpPr>
        <p:spPr>
          <a:xfrm>
            <a:off x="8394192" y="2423160"/>
            <a:ext cx="3474720" cy="3749039"/>
          </a:xfrm>
          <a:prstGeom prst="rect">
            <a:avLst/>
          </a:prstGeom>
          <a:noFill/>
        </p:spPr>
        <p:txBody>
          <a:bodyPr wrap="square">
            <a:spAutoFit/>
          </a:bodyPr>
          <a:lstStyle/>
          <a:p>
            <a:pPr algn="l">
              <a:spcAft>
                <a:spcPts val="600"/>
              </a:spcAft>
            </a:pPr>
            <a:r>
              <a:rPr sz="1800">
                <a:solidFill>
                  <a:srgbClr val="1E273D"/>
                </a:solidFill>
                <a:latin typeface="Calibri"/>
              </a:rPr>
              <a:t>▸  NIST SP 800-53 Rev. 5 control implementation</a:t>
            </a:r>
          </a:p>
          <a:p>
            <a:pPr algn="l">
              <a:spcAft>
                <a:spcPts val="600"/>
              </a:spcAft>
            </a:pPr>
            <a:r>
              <a:rPr sz="1800">
                <a:solidFill>
                  <a:srgbClr val="1E273D"/>
                </a:solidFill>
                <a:latin typeface="Calibri"/>
              </a:rPr>
              <a:t>▸  FISMA annual assessment &amp; NIST CSF gap analysis</a:t>
            </a:r>
          </a:p>
          <a:p>
            <a:pPr algn="l">
              <a:spcAft>
                <a:spcPts val="600"/>
              </a:spcAft>
            </a:pPr>
            <a:r>
              <a:rPr sz="1800">
                <a:solidFill>
                  <a:srgbClr val="1E273D"/>
                </a:solidFill>
                <a:latin typeface="Calibri"/>
              </a:rPr>
              <a:t>▸  FedRAMP Moderate evidence management</a:t>
            </a:r>
          </a:p>
          <a:p>
            <a:pPr algn="l">
              <a:spcAft>
                <a:spcPts val="600"/>
              </a:spcAft>
            </a:pPr>
            <a:r>
              <a:rPr sz="1800">
                <a:solidFill>
                  <a:srgbClr val="1E273D"/>
                </a:solidFill>
                <a:latin typeface="Calibri"/>
              </a:rPr>
              <a:t>▸  ATO package development &amp; risk register for Authorizing Officials</a:t>
            </a:r>
          </a:p>
          <a:p>
            <a:pPr algn="l">
              <a:spcAft>
                <a:spcPts val="600"/>
              </a:spcAft>
            </a:pPr>
            <a:r>
              <a:rPr sz="1800">
                <a:solidFill>
                  <a:srgbClr val="1E273D"/>
                </a:solidFill>
                <a:latin typeface="Calibri"/>
              </a:rPr>
              <a:t>▸  Cross-framework mapping: map once, comply many</a:t>
            </a:r>
          </a:p>
        </p:txBody>
      </p:sp>
      <p:sp>
        <p:nvSpPr>
          <p:cNvPr id="17" name="TextBox 16"/>
          <p:cNvSpPr txBox="1"/>
          <p:nvPr/>
        </p:nvSpPr>
        <p:spPr>
          <a:xfrm>
            <a:off x="365760" y="6492240"/>
            <a:ext cx="10972800" cy="320040"/>
          </a:xfrm>
          <a:prstGeom prst="rect">
            <a:avLst/>
          </a:prstGeom>
          <a:noFill/>
        </p:spPr>
        <p:txBody>
          <a:bodyPr wrap="square">
            <a:spAutoFit/>
          </a:bodyPr>
          <a:lstStyle/>
          <a:p>
            <a:pPr algn="l"/>
            <a:r>
              <a:rPr sz="1500" b="0" i="1">
                <a:solidFill>
                  <a:srgbClr val="55657A"/>
                </a:solidFill>
                <a:latin typeface="Calibri"/>
              </a:rPr>
              <a:t>Portfolio available at: github.com/AnelHenning2-collab/grc-analyst-portfolio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55448"/>
            <a:ext cx="8686800" cy="640080"/>
          </a:xfrm>
          <a:prstGeom prst="rect">
            <a:avLst/>
          </a:prstGeom>
          <a:noFill/>
        </p:spPr>
        <p:txBody>
          <a:bodyPr wrap="square">
            <a:spAutoFit/>
          </a:bodyPr>
          <a:lstStyle/>
          <a:p>
            <a:pPr algn="l"/>
            <a:r>
              <a:rPr sz="2200" b="1" i="0">
                <a:solidFill>
                  <a:srgbClr val="FFFFFF"/>
                </a:solidFill>
                <a:latin typeface="Calibri"/>
              </a:rPr>
              <a:t>Acceptable Use Policy (AUP)</a:t>
            </a:r>
          </a:p>
        </p:txBody>
      </p:sp>
      <p:sp>
        <p:nvSpPr>
          <p:cNvPr id="4" name="Rounded Rectangle 3"/>
          <p:cNvSpPr/>
          <p:nvPr/>
        </p:nvSpPr>
        <p:spPr>
          <a:xfrm>
            <a:off x="9418320" y="201168"/>
            <a:ext cx="2468880" cy="502920"/>
          </a:xfrm>
          <a:prstGeom prst="round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36608" y="219456"/>
            <a:ext cx="2468880" cy="457200"/>
          </a:xfrm>
          <a:prstGeom prst="rect">
            <a:avLst/>
          </a:prstGeom>
          <a:noFill/>
        </p:spPr>
        <p:txBody>
          <a:bodyPr wrap="square">
            <a:spAutoFit/>
          </a:bodyPr>
          <a:lstStyle/>
          <a:p>
            <a:pPr algn="ctr"/>
            <a:r>
              <a:rPr sz="1800" b="1" i="0">
                <a:solidFill>
                  <a:srgbClr val="FFFFFF"/>
                </a:solidFill>
                <a:latin typeface="Calibri"/>
              </a:rPr>
              <a:t>Health Insurance</a:t>
            </a:r>
          </a:p>
        </p:txBody>
      </p:sp>
      <p:sp>
        <p:nvSpPr>
          <p:cNvPr id="6" name="Rectangle 5"/>
          <p:cNvSpPr/>
          <p:nvPr/>
        </p:nvSpPr>
        <p:spPr>
          <a:xfrm>
            <a:off x="274320" y="1051560"/>
            <a:ext cx="5029200" cy="4069080"/>
          </a:xfrm>
          <a:prstGeom prst="rect">
            <a:avLst/>
          </a:prstGeom>
          <a:solidFill>
            <a:srgbClr val="EE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15568"/>
            <a:ext cx="3200400" cy="274320"/>
          </a:xfrm>
          <a:prstGeom prst="rect">
            <a:avLst/>
          </a:prstGeom>
          <a:noFill/>
        </p:spPr>
        <p:txBody>
          <a:bodyPr wrap="none">
            <a:spAutoFit/>
          </a:bodyPr>
          <a:lstStyle/>
          <a:p>
            <a:r>
              <a:rPr sz="1100" b="1">
                <a:solidFill>
                  <a:srgbClr val="028090"/>
                </a:solidFill>
                <a:latin typeface="Calibri"/>
              </a:rPr>
              <a:t>SITUATION &amp; TASK</a:t>
            </a:r>
          </a:p>
        </p:txBody>
      </p:sp>
      <p:sp>
        <p:nvSpPr>
          <p:cNvPr id="8" name="TextBox 7"/>
          <p:cNvSpPr txBox="1"/>
          <p:nvPr/>
        </p:nvSpPr>
        <p:spPr>
          <a:xfrm>
            <a:off x="411480" y="1417320"/>
            <a:ext cx="4800600" cy="3611880"/>
          </a:xfrm>
          <a:prstGeom prst="rect">
            <a:avLst/>
          </a:prstGeom>
          <a:noFill/>
        </p:spPr>
        <p:txBody>
          <a:bodyPr wrap="square">
            <a:spAutoFit/>
          </a:bodyPr>
          <a:lstStyle/>
          <a:p>
            <a:pPr algn="l"/>
            <a:r>
              <a:rPr sz="1500" b="0" i="0">
                <a:solidFill>
                  <a:srgbClr val="1E273D"/>
                </a:solidFill>
                <a:latin typeface="Calibri"/>
              </a:rPr>
              <a:t>A regional Medicare Advantage carrier had no formal AUP. An external auditor flagged this as a HIPAA Security Rule gap (§164.308 administrative safeguards) with a 60-day remediation deadline. No cross-departmental policy process existed, and HR and Legal held conflicting positions on personal device use.</a:t>
            </a:r>
          </a:p>
        </p:txBody>
      </p:sp>
      <p:sp>
        <p:nvSpPr>
          <p:cNvPr id="9" name="Rectangle 8"/>
          <p:cNvSpPr/>
          <p:nvPr/>
        </p:nvSpPr>
        <p:spPr>
          <a:xfrm>
            <a:off x="5577840" y="1051560"/>
            <a:ext cx="6309360" cy="4069080"/>
          </a:xfrm>
          <a:prstGeom prst="rect">
            <a:avLst/>
          </a:prstGeom>
          <a:solidFill>
            <a:srgbClr val="FFFFF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1115568"/>
            <a:ext cx="3657600" cy="274320"/>
          </a:xfrm>
          <a:prstGeom prst="rect">
            <a:avLst/>
          </a:prstGeom>
          <a:noFill/>
        </p:spPr>
        <p:txBody>
          <a:bodyPr wrap="none">
            <a:spAutoFit/>
          </a:bodyPr>
          <a:lstStyle/>
          <a:p>
            <a:r>
              <a:rPr sz="1100" b="1">
                <a:solidFill>
                  <a:srgbClr val="028090"/>
                </a:solidFill>
                <a:latin typeface="Calibri"/>
              </a:rPr>
              <a:t>ACTIONS I TOOK</a:t>
            </a:r>
          </a:p>
        </p:txBody>
      </p:sp>
      <p:sp>
        <p:nvSpPr>
          <p:cNvPr id="11" name="TextBox 10"/>
          <p:cNvSpPr txBox="1"/>
          <p:nvPr/>
        </p:nvSpPr>
        <p:spPr>
          <a:xfrm>
            <a:off x="5715000" y="1417320"/>
            <a:ext cx="6035040" cy="3611880"/>
          </a:xfrm>
          <a:prstGeom prst="rect">
            <a:avLst/>
          </a:prstGeom>
          <a:noFill/>
        </p:spPr>
        <p:txBody>
          <a:bodyPr wrap="square">
            <a:spAutoFit/>
          </a:bodyPr>
          <a:lstStyle/>
          <a:p>
            <a:pPr algn="l">
              <a:spcAft>
                <a:spcPts val="700"/>
              </a:spcAft>
            </a:pPr>
            <a:r>
              <a:rPr sz="1500">
                <a:solidFill>
                  <a:srgbClr val="1E273D"/>
                </a:solidFill>
                <a:latin typeface="Calibri"/>
              </a:rPr>
              <a:t>▸  Ran a kickoff workshop with IT, HR, Legal, and Compliance to surface the top risk areas specific to claims adjuster workflows and PHI access</a:t>
            </a:r>
          </a:p>
          <a:p>
            <a:pPr algn="l">
              <a:spcAft>
                <a:spcPts val="700"/>
              </a:spcAft>
            </a:pPr>
            <a:r>
              <a:rPr sz="1500">
                <a:solidFill>
                  <a:srgbClr val="1E273D"/>
                </a:solidFill>
                <a:latin typeface="Calibri"/>
              </a:rPr>
              <a:t>▸  Drafted the AUP and circulated it via tracked-changes so every department's input was visible and credited — building trust across teams</a:t>
            </a:r>
          </a:p>
          <a:p>
            <a:pPr algn="l">
              <a:spcAft>
                <a:spcPts val="700"/>
              </a:spcAft>
            </a:pPr>
            <a:r>
              <a:rPr sz="1500">
                <a:solidFill>
                  <a:srgbClr val="1E273D"/>
                </a:solidFill>
                <a:latin typeface="Calibri"/>
              </a:rPr>
              <a:t>▸  Facilitated a structured conflict-resolution session between HR and Legal on BYOD language, documented the agreed position</a:t>
            </a:r>
          </a:p>
          <a:p>
            <a:pPr algn="l">
              <a:spcAft>
                <a:spcPts val="700"/>
              </a:spcAft>
            </a:pPr>
            <a:r>
              <a:rPr sz="1500">
                <a:solidFill>
                  <a:srgbClr val="1E273D"/>
                </a:solidFill>
                <a:latin typeface="Calibri"/>
              </a:rPr>
              <a:t>▸  Built a SharePoint acknowledgment tracker so HR could report completion rates to the auditor in real time</a:t>
            </a:r>
          </a:p>
        </p:txBody>
      </p:sp>
      <p:sp>
        <p:nvSpPr>
          <p:cNvPr id="12" name="Rectangle 11"/>
          <p:cNvSpPr/>
          <p:nvPr/>
        </p:nvSpPr>
        <p:spPr>
          <a:xfrm>
            <a:off x="0" y="5285232"/>
            <a:ext cx="12188952" cy="1572768"/>
          </a:xfrm>
          <a:prstGeom prst="rect">
            <a:avLst/>
          </a:prstGeom>
          <a:solidFill>
            <a:srgbClr val="04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376672"/>
            <a:ext cx="2743200" cy="274320"/>
          </a:xfrm>
          <a:prstGeom prst="rect">
            <a:avLst/>
          </a:prstGeom>
          <a:noFill/>
        </p:spPr>
        <p:txBody>
          <a:bodyPr wrap="none">
            <a:spAutoFit/>
          </a:bodyPr>
          <a:lstStyle/>
          <a:p>
            <a:r>
              <a:rPr sz="1500" b="1">
                <a:solidFill>
                  <a:srgbClr val="F5C518"/>
                </a:solidFill>
                <a:latin typeface="Calibri"/>
              </a:rPr>
              <a:t>🏆  THE WIN</a:t>
            </a:r>
          </a:p>
        </p:txBody>
      </p:sp>
      <p:sp>
        <p:nvSpPr>
          <p:cNvPr id="14" name="TextBox 13"/>
          <p:cNvSpPr txBox="1"/>
          <p:nvPr/>
        </p:nvSpPr>
        <p:spPr>
          <a:xfrm>
            <a:off x="365760" y="5623560"/>
            <a:ext cx="11430000" cy="457200"/>
          </a:xfrm>
          <a:prstGeom prst="rect">
            <a:avLst/>
          </a:prstGeom>
          <a:noFill/>
        </p:spPr>
        <p:txBody>
          <a:bodyPr wrap="square">
            <a:spAutoFit/>
          </a:bodyPr>
          <a:lstStyle/>
          <a:p>
            <a:pPr algn="l"/>
            <a:r>
              <a:rPr sz="1800" b="1" i="0">
                <a:solidFill>
                  <a:srgbClr val="FFFFFF"/>
                </a:solidFill>
                <a:latin typeface="Calibri"/>
              </a:rPr>
              <a:t>Policy approved 15 days early  ·  94% employee acknowledgment  ·  HIPAA gap finding closed with no conditions</a:t>
            </a:r>
          </a:p>
        </p:txBody>
      </p:sp>
      <p:sp>
        <p:nvSpPr>
          <p:cNvPr id="15" name="TextBox 14"/>
          <p:cNvSpPr txBox="1"/>
          <p:nvPr/>
        </p:nvSpPr>
        <p:spPr>
          <a:xfrm>
            <a:off x="365760" y="6035040"/>
            <a:ext cx="11430000" cy="640080"/>
          </a:xfrm>
          <a:prstGeom prst="rect">
            <a:avLst/>
          </a:prstGeom>
          <a:noFill/>
        </p:spPr>
        <p:txBody>
          <a:bodyPr wrap="square">
            <a:spAutoFit/>
          </a:bodyPr>
          <a:lstStyle/>
          <a:p>
            <a:pPr algn="l"/>
            <a:r>
              <a:rPr sz="1500" b="0" i="0">
                <a:solidFill>
                  <a:srgbClr val="CADCFC"/>
                </a:solidFill>
                <a:latin typeface="Calibri"/>
              </a:rPr>
              <a:t>The acknowledgment tracker became a reusable template adopted for 2 subsequent policy rollouts — multiplying the impact of a single GRC initiative.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55448"/>
            <a:ext cx="8686800" cy="640080"/>
          </a:xfrm>
          <a:prstGeom prst="rect">
            <a:avLst/>
          </a:prstGeom>
          <a:noFill/>
        </p:spPr>
        <p:txBody>
          <a:bodyPr wrap="square">
            <a:spAutoFit/>
          </a:bodyPr>
          <a:lstStyle/>
          <a:p>
            <a:pPr algn="l"/>
            <a:r>
              <a:rPr sz="2200" b="1" i="0">
                <a:solidFill>
                  <a:srgbClr val="FFFFFF"/>
                </a:solidFill>
                <a:latin typeface="Calibri"/>
              </a:rPr>
              <a:t>Data Classification Policy</a:t>
            </a:r>
          </a:p>
        </p:txBody>
      </p:sp>
      <p:sp>
        <p:nvSpPr>
          <p:cNvPr id="4" name="Rounded Rectangle 3"/>
          <p:cNvSpPr/>
          <p:nvPr/>
        </p:nvSpPr>
        <p:spPr>
          <a:xfrm>
            <a:off x="9418320" y="201168"/>
            <a:ext cx="2468880" cy="502920"/>
          </a:xfrm>
          <a:prstGeom prst="roundRect">
            <a:avLst/>
          </a:prstGeom>
          <a:solidFill>
            <a:srgbClr val="076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36608" y="219456"/>
            <a:ext cx="2468880" cy="457200"/>
          </a:xfrm>
          <a:prstGeom prst="rect">
            <a:avLst/>
          </a:prstGeom>
          <a:noFill/>
        </p:spPr>
        <p:txBody>
          <a:bodyPr wrap="square">
            <a:spAutoFit/>
          </a:bodyPr>
          <a:lstStyle/>
          <a:p>
            <a:pPr algn="ctr"/>
            <a:r>
              <a:rPr sz="1800" b="1" i="0">
                <a:solidFill>
                  <a:srgbClr val="FFFFFF"/>
                </a:solidFill>
                <a:latin typeface="Calibri"/>
              </a:rPr>
              <a:t>Healthcare — Hospital System</a:t>
            </a:r>
          </a:p>
        </p:txBody>
      </p:sp>
      <p:sp>
        <p:nvSpPr>
          <p:cNvPr id="6" name="Rectangle 5"/>
          <p:cNvSpPr/>
          <p:nvPr/>
        </p:nvSpPr>
        <p:spPr>
          <a:xfrm>
            <a:off x="274320" y="1051560"/>
            <a:ext cx="5029200" cy="4069080"/>
          </a:xfrm>
          <a:prstGeom prst="rect">
            <a:avLst/>
          </a:prstGeom>
          <a:solidFill>
            <a:srgbClr val="EE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15568"/>
            <a:ext cx="3200400" cy="274320"/>
          </a:xfrm>
          <a:prstGeom prst="rect">
            <a:avLst/>
          </a:prstGeom>
          <a:noFill/>
        </p:spPr>
        <p:txBody>
          <a:bodyPr wrap="none">
            <a:spAutoFit/>
          </a:bodyPr>
          <a:lstStyle/>
          <a:p>
            <a:r>
              <a:rPr sz="1100" b="1">
                <a:solidFill>
                  <a:srgbClr val="028090"/>
                </a:solidFill>
                <a:latin typeface="Calibri"/>
              </a:rPr>
              <a:t>SITUATION &amp; TASK</a:t>
            </a:r>
          </a:p>
        </p:txBody>
      </p:sp>
      <p:sp>
        <p:nvSpPr>
          <p:cNvPr id="8" name="TextBox 7"/>
          <p:cNvSpPr txBox="1"/>
          <p:nvPr/>
        </p:nvSpPr>
        <p:spPr>
          <a:xfrm>
            <a:off x="411480" y="1417320"/>
            <a:ext cx="4800600" cy="3611880"/>
          </a:xfrm>
          <a:prstGeom prst="rect">
            <a:avLst/>
          </a:prstGeom>
          <a:noFill/>
        </p:spPr>
        <p:txBody>
          <a:bodyPr wrap="square">
            <a:spAutoFit/>
          </a:bodyPr>
          <a:lstStyle/>
          <a:p>
            <a:pPr algn="l"/>
            <a:r>
              <a:rPr sz="1500" b="0" i="0">
                <a:solidFill>
                  <a:srgbClr val="1E273D"/>
                </a:solidFill>
                <a:latin typeface="Calibri"/>
              </a:rPr>
              <a:t>A multi-site hospital system migrated to hybrid cloud and discovered PHI, research data, and admin files co-mingled with no classification labels — a potential HIPAA violation under §164.312 (technical safeguards). A blanket 'encrypt everything' rule would break time-sensitive clinical workflows and create staff resistance.</a:t>
            </a:r>
          </a:p>
        </p:txBody>
      </p:sp>
      <p:sp>
        <p:nvSpPr>
          <p:cNvPr id="9" name="Rectangle 8"/>
          <p:cNvSpPr/>
          <p:nvPr/>
        </p:nvSpPr>
        <p:spPr>
          <a:xfrm>
            <a:off x="5577840" y="1051560"/>
            <a:ext cx="6309360" cy="4069080"/>
          </a:xfrm>
          <a:prstGeom prst="rect">
            <a:avLst/>
          </a:prstGeom>
          <a:solidFill>
            <a:srgbClr val="FFFFF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1115568"/>
            <a:ext cx="3657600" cy="274320"/>
          </a:xfrm>
          <a:prstGeom prst="rect">
            <a:avLst/>
          </a:prstGeom>
          <a:noFill/>
        </p:spPr>
        <p:txBody>
          <a:bodyPr wrap="none">
            <a:spAutoFit/>
          </a:bodyPr>
          <a:lstStyle/>
          <a:p>
            <a:r>
              <a:rPr sz="1100" b="1">
                <a:solidFill>
                  <a:srgbClr val="028090"/>
                </a:solidFill>
                <a:latin typeface="Calibri"/>
              </a:rPr>
              <a:t>ACTIONS I TOOK</a:t>
            </a:r>
          </a:p>
        </p:txBody>
      </p:sp>
      <p:sp>
        <p:nvSpPr>
          <p:cNvPr id="11" name="TextBox 10"/>
          <p:cNvSpPr txBox="1"/>
          <p:nvPr/>
        </p:nvSpPr>
        <p:spPr>
          <a:xfrm>
            <a:off x="5715000" y="1417320"/>
            <a:ext cx="6035040" cy="3611880"/>
          </a:xfrm>
          <a:prstGeom prst="rect">
            <a:avLst/>
          </a:prstGeom>
          <a:noFill/>
        </p:spPr>
        <p:txBody>
          <a:bodyPr wrap="square">
            <a:spAutoFit/>
          </a:bodyPr>
          <a:lstStyle/>
          <a:p>
            <a:pPr algn="l">
              <a:spcAft>
                <a:spcPts val="700"/>
              </a:spcAft>
            </a:pPr>
            <a:r>
              <a:rPr sz="1500">
                <a:solidFill>
                  <a:srgbClr val="1E273D"/>
                </a:solidFill>
                <a:latin typeface="Calibri"/>
              </a:rPr>
              <a:t>▸  Embedded with nursing unit coordinators and a clinical informatics lead to observe real workflows before writing a single policy line</a:t>
            </a:r>
          </a:p>
          <a:p>
            <a:pPr algn="l">
              <a:spcAft>
                <a:spcPts val="700"/>
              </a:spcAft>
            </a:pPr>
            <a:r>
              <a:rPr sz="1500">
                <a:solidFill>
                  <a:srgbClr val="1E273D"/>
                </a:solidFill>
                <a:latin typeface="Calibri"/>
              </a:rPr>
              <a:t>▸  Identified that transparent background encryption (not user-initiated) was the only viable path — brought that finding back to IT to source a compatible solution</a:t>
            </a:r>
          </a:p>
          <a:p>
            <a:pPr algn="l">
              <a:spcAft>
                <a:spcPts val="700"/>
              </a:spcAft>
            </a:pPr>
            <a:r>
              <a:rPr sz="1500">
                <a:solidFill>
                  <a:srgbClr val="1E273D"/>
                </a:solidFill>
                <a:latin typeface="Calibri"/>
              </a:rPr>
              <a:t>▸  Mapped the 'Restricted' classification tier explicitly to HIPAA Security Rule technical safeguard requirements in collaboration with Legal</a:t>
            </a:r>
          </a:p>
          <a:p>
            <a:pPr algn="l">
              <a:spcAft>
                <a:spcPts val="700"/>
              </a:spcAft>
            </a:pPr>
            <a:r>
              <a:rPr sz="1500">
                <a:solidFill>
                  <a:srgbClr val="1E273D"/>
                </a:solidFill>
                <a:latin typeface="Calibri"/>
              </a:rPr>
              <a:t>▸  Had the final policy plain-English reviewed by an HIM manager to verify frontline clinical staff could understand and comply without security training</a:t>
            </a:r>
          </a:p>
        </p:txBody>
      </p:sp>
      <p:sp>
        <p:nvSpPr>
          <p:cNvPr id="12" name="Rectangle 11"/>
          <p:cNvSpPr/>
          <p:nvPr/>
        </p:nvSpPr>
        <p:spPr>
          <a:xfrm>
            <a:off x="0" y="5285232"/>
            <a:ext cx="12188952" cy="1572768"/>
          </a:xfrm>
          <a:prstGeom prst="rect">
            <a:avLst/>
          </a:prstGeom>
          <a:solidFill>
            <a:srgbClr val="04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376672"/>
            <a:ext cx="2743200" cy="274320"/>
          </a:xfrm>
          <a:prstGeom prst="rect">
            <a:avLst/>
          </a:prstGeom>
          <a:noFill/>
        </p:spPr>
        <p:txBody>
          <a:bodyPr wrap="none">
            <a:spAutoFit/>
          </a:bodyPr>
          <a:lstStyle/>
          <a:p>
            <a:r>
              <a:rPr sz="1500" b="1">
                <a:solidFill>
                  <a:srgbClr val="F5C518"/>
                </a:solidFill>
                <a:latin typeface="Calibri"/>
              </a:rPr>
              <a:t>🏆  THE WIN</a:t>
            </a:r>
          </a:p>
        </p:txBody>
      </p:sp>
      <p:sp>
        <p:nvSpPr>
          <p:cNvPr id="14" name="TextBox 13"/>
          <p:cNvSpPr txBox="1"/>
          <p:nvPr/>
        </p:nvSpPr>
        <p:spPr>
          <a:xfrm>
            <a:off x="365760" y="5623560"/>
            <a:ext cx="11430000" cy="457200"/>
          </a:xfrm>
          <a:prstGeom prst="rect">
            <a:avLst/>
          </a:prstGeom>
          <a:noFill/>
        </p:spPr>
        <p:txBody>
          <a:bodyPr wrap="square">
            <a:spAutoFit/>
          </a:bodyPr>
          <a:lstStyle/>
          <a:p>
            <a:pPr algn="l"/>
            <a:r>
              <a:rPr sz="1800" b="1" i="0">
                <a:solidFill>
                  <a:srgbClr val="FFFFFF"/>
                </a:solidFill>
                <a:latin typeface="Calibri"/>
              </a:rPr>
              <a:t>Ratified by CISO + CMO in 6 weeks  ·  Background encryption deployed in 30 days  ·  Zero workflow complaints at 90-day review</a:t>
            </a:r>
          </a:p>
        </p:txBody>
      </p:sp>
      <p:sp>
        <p:nvSpPr>
          <p:cNvPr id="15" name="TextBox 14"/>
          <p:cNvSpPr txBox="1"/>
          <p:nvPr/>
        </p:nvSpPr>
        <p:spPr>
          <a:xfrm>
            <a:off x="365760" y="6035040"/>
            <a:ext cx="11430000" cy="640080"/>
          </a:xfrm>
          <a:prstGeom prst="rect">
            <a:avLst/>
          </a:prstGeom>
          <a:noFill/>
        </p:spPr>
        <p:txBody>
          <a:bodyPr wrap="square">
            <a:spAutoFit/>
          </a:bodyPr>
          <a:lstStyle/>
          <a:p>
            <a:pPr algn="l"/>
            <a:r>
              <a:rPr sz="1500" b="0" i="0">
                <a:solidFill>
                  <a:srgbClr val="CADCFC"/>
                </a:solidFill>
                <a:latin typeface="Calibri"/>
              </a:rPr>
              <a:t>Compliance Officer formally cited this as the model for future policy development — a framework process, not just a document.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55448"/>
            <a:ext cx="8686800" cy="640080"/>
          </a:xfrm>
          <a:prstGeom prst="rect">
            <a:avLst/>
          </a:prstGeom>
          <a:noFill/>
        </p:spPr>
        <p:txBody>
          <a:bodyPr wrap="square">
            <a:spAutoFit/>
          </a:bodyPr>
          <a:lstStyle/>
          <a:p>
            <a:pPr algn="l"/>
            <a:r>
              <a:rPr sz="2200" b="1" i="0">
                <a:solidFill>
                  <a:srgbClr val="FFFFFF"/>
                </a:solidFill>
                <a:latin typeface="Calibri"/>
              </a:rPr>
              <a:t>Incident Response Policy</a:t>
            </a:r>
          </a:p>
        </p:txBody>
      </p:sp>
      <p:sp>
        <p:nvSpPr>
          <p:cNvPr id="4" name="Rounded Rectangle 3"/>
          <p:cNvSpPr/>
          <p:nvPr/>
        </p:nvSpPr>
        <p:spPr>
          <a:xfrm>
            <a:off x="9418320" y="201168"/>
            <a:ext cx="2468880" cy="502920"/>
          </a:xfrm>
          <a:prstGeom prst="roundRect">
            <a:avLst/>
          </a:prstGeom>
          <a:solidFill>
            <a:srgbClr val="175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36608" y="219456"/>
            <a:ext cx="2468880" cy="457200"/>
          </a:xfrm>
          <a:prstGeom prst="rect">
            <a:avLst/>
          </a:prstGeom>
          <a:noFill/>
        </p:spPr>
        <p:txBody>
          <a:bodyPr wrap="square">
            <a:spAutoFit/>
          </a:bodyPr>
          <a:lstStyle/>
          <a:p>
            <a:pPr algn="ctr"/>
            <a:r>
              <a:rPr sz="1800" b="1" i="0">
                <a:solidFill>
                  <a:srgbClr val="FFFFFF"/>
                </a:solidFill>
                <a:latin typeface="Calibri"/>
              </a:rPr>
              <a:t>Managed Care — Medicaid/CHIP</a:t>
            </a:r>
          </a:p>
        </p:txBody>
      </p:sp>
      <p:sp>
        <p:nvSpPr>
          <p:cNvPr id="6" name="Rectangle 5"/>
          <p:cNvSpPr/>
          <p:nvPr/>
        </p:nvSpPr>
        <p:spPr>
          <a:xfrm>
            <a:off x="274320" y="1051560"/>
            <a:ext cx="5029200" cy="4069080"/>
          </a:xfrm>
          <a:prstGeom prst="rect">
            <a:avLst/>
          </a:prstGeom>
          <a:solidFill>
            <a:srgbClr val="EE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15568"/>
            <a:ext cx="3200400" cy="274320"/>
          </a:xfrm>
          <a:prstGeom prst="rect">
            <a:avLst/>
          </a:prstGeom>
          <a:noFill/>
        </p:spPr>
        <p:txBody>
          <a:bodyPr wrap="none">
            <a:spAutoFit/>
          </a:bodyPr>
          <a:lstStyle/>
          <a:p>
            <a:r>
              <a:rPr sz="1100" b="1">
                <a:solidFill>
                  <a:srgbClr val="028090"/>
                </a:solidFill>
                <a:latin typeface="Calibri"/>
              </a:rPr>
              <a:t>SITUATION &amp; TASK</a:t>
            </a:r>
          </a:p>
        </p:txBody>
      </p:sp>
      <p:sp>
        <p:nvSpPr>
          <p:cNvPr id="8" name="TextBox 7"/>
          <p:cNvSpPr txBox="1"/>
          <p:nvPr/>
        </p:nvSpPr>
        <p:spPr>
          <a:xfrm>
            <a:off x="411480" y="1417320"/>
            <a:ext cx="4800600" cy="3611880"/>
          </a:xfrm>
          <a:prstGeom prst="rect">
            <a:avLst/>
          </a:prstGeom>
          <a:noFill/>
        </p:spPr>
        <p:txBody>
          <a:bodyPr wrap="square">
            <a:spAutoFit/>
          </a:bodyPr>
          <a:lstStyle/>
          <a:p>
            <a:pPr algn="l"/>
            <a:r>
              <a:rPr sz="1500" b="0" i="0">
                <a:solidFill>
                  <a:srgbClr val="1E273D"/>
                </a:solidFill>
                <a:latin typeface="Calibri"/>
              </a:rPr>
              <a:t>A billing vendor breach exposed 12,000 member records (names, Medicaid IDs, diagnosis codes). The organization's IRT Lead had joined 2 weeks prior, the IR plan was 2 years out of date, and the HIPAA Breach Notification Rule imposed a 60-day HHS reporting deadline. The clock was running.</a:t>
            </a:r>
          </a:p>
        </p:txBody>
      </p:sp>
      <p:sp>
        <p:nvSpPr>
          <p:cNvPr id="9" name="Rectangle 8"/>
          <p:cNvSpPr/>
          <p:nvPr/>
        </p:nvSpPr>
        <p:spPr>
          <a:xfrm>
            <a:off x="5577840" y="1051560"/>
            <a:ext cx="6309360" cy="4069080"/>
          </a:xfrm>
          <a:prstGeom prst="rect">
            <a:avLst/>
          </a:prstGeom>
          <a:solidFill>
            <a:srgbClr val="FFFFF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1115568"/>
            <a:ext cx="3657600" cy="274320"/>
          </a:xfrm>
          <a:prstGeom prst="rect">
            <a:avLst/>
          </a:prstGeom>
          <a:noFill/>
        </p:spPr>
        <p:txBody>
          <a:bodyPr wrap="none">
            <a:spAutoFit/>
          </a:bodyPr>
          <a:lstStyle/>
          <a:p>
            <a:r>
              <a:rPr sz="1100" b="1">
                <a:solidFill>
                  <a:srgbClr val="028090"/>
                </a:solidFill>
                <a:latin typeface="Calibri"/>
              </a:rPr>
              <a:t>ACTIONS I TOOK</a:t>
            </a:r>
          </a:p>
        </p:txBody>
      </p:sp>
      <p:sp>
        <p:nvSpPr>
          <p:cNvPr id="11" name="TextBox 10"/>
          <p:cNvSpPr txBox="1"/>
          <p:nvPr/>
        </p:nvSpPr>
        <p:spPr>
          <a:xfrm>
            <a:off x="5715000" y="1417320"/>
            <a:ext cx="6035040" cy="3611880"/>
          </a:xfrm>
          <a:prstGeom prst="rect">
            <a:avLst/>
          </a:prstGeom>
          <a:noFill/>
        </p:spPr>
        <p:txBody>
          <a:bodyPr wrap="square">
            <a:spAutoFit/>
          </a:bodyPr>
          <a:lstStyle/>
          <a:p>
            <a:pPr algn="l">
              <a:spcAft>
                <a:spcPts val="700"/>
              </a:spcAft>
            </a:pPr>
            <a:r>
              <a:rPr sz="1500">
                <a:solidFill>
                  <a:srgbClr val="1E273D"/>
                </a:solidFill>
                <a:latin typeface="Calibri"/>
              </a:rPr>
              <a:t>▸  Created a shared real-time incident timeline document so all functions (IT, Legal, Privacy, Communications) worked from a single source of truth</a:t>
            </a:r>
          </a:p>
          <a:p>
            <a:pPr algn="l">
              <a:spcAft>
                <a:spcPts val="700"/>
              </a:spcAft>
            </a:pPr>
            <a:r>
              <a:rPr sz="1500">
                <a:solidFill>
                  <a:srgbClr val="1E273D"/>
                </a:solidFill>
                <a:latin typeface="Calibri"/>
              </a:rPr>
              <a:t>▸  Identified that the existing chain-of-custody procedure didn't account for vendor-side evidence — flagged this to the IRT Lead and Legal immediately and we designed the workaround together</a:t>
            </a:r>
          </a:p>
          <a:p>
            <a:pPr algn="l">
              <a:spcAft>
                <a:spcPts val="700"/>
              </a:spcAft>
            </a:pPr>
            <a:r>
              <a:rPr sz="1500">
                <a:solidFill>
                  <a:srgbClr val="1E273D"/>
                </a:solidFill>
                <a:latin typeface="Calibri"/>
              </a:rPr>
              <a:t>▸  Drafted the HHS breach notification language and worked with Legal to apply the HIPAA 4-factor test to determine reportability</a:t>
            </a:r>
          </a:p>
          <a:p>
            <a:pPr algn="l">
              <a:spcAft>
                <a:spcPts val="700"/>
              </a:spcAft>
            </a:pPr>
            <a:r>
              <a:rPr sz="1500">
                <a:solidFill>
                  <a:srgbClr val="1E273D"/>
                </a:solidFill>
                <a:latin typeface="Calibri"/>
              </a:rPr>
              <a:t>▸  Documented every procedural gap I found in a running list so the post-incident review had a ready agenda — no gaps fell through the cracks</a:t>
            </a:r>
          </a:p>
        </p:txBody>
      </p:sp>
      <p:sp>
        <p:nvSpPr>
          <p:cNvPr id="12" name="Rectangle 11"/>
          <p:cNvSpPr/>
          <p:nvPr/>
        </p:nvSpPr>
        <p:spPr>
          <a:xfrm>
            <a:off x="0" y="5285232"/>
            <a:ext cx="12188952" cy="1572768"/>
          </a:xfrm>
          <a:prstGeom prst="rect">
            <a:avLst/>
          </a:prstGeom>
          <a:solidFill>
            <a:srgbClr val="04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376672"/>
            <a:ext cx="2743200" cy="274320"/>
          </a:xfrm>
          <a:prstGeom prst="rect">
            <a:avLst/>
          </a:prstGeom>
          <a:noFill/>
        </p:spPr>
        <p:txBody>
          <a:bodyPr wrap="none">
            <a:spAutoFit/>
          </a:bodyPr>
          <a:lstStyle/>
          <a:p>
            <a:r>
              <a:rPr sz="1500" b="1">
                <a:solidFill>
                  <a:srgbClr val="F5C518"/>
                </a:solidFill>
                <a:latin typeface="Calibri"/>
              </a:rPr>
              <a:t>🏆  THE WIN</a:t>
            </a:r>
          </a:p>
        </p:txBody>
      </p:sp>
      <p:sp>
        <p:nvSpPr>
          <p:cNvPr id="14" name="TextBox 13"/>
          <p:cNvSpPr txBox="1"/>
          <p:nvPr/>
        </p:nvSpPr>
        <p:spPr>
          <a:xfrm>
            <a:off x="365760" y="5623560"/>
            <a:ext cx="11430000" cy="457200"/>
          </a:xfrm>
          <a:prstGeom prst="rect">
            <a:avLst/>
          </a:prstGeom>
          <a:noFill/>
        </p:spPr>
        <p:txBody>
          <a:bodyPr wrap="square">
            <a:spAutoFit/>
          </a:bodyPr>
          <a:lstStyle/>
          <a:p>
            <a:pPr algn="l"/>
            <a:r>
              <a:rPr sz="1800" b="1" i="0">
                <a:solidFill>
                  <a:srgbClr val="FFFFFF"/>
                </a:solidFill>
                <a:latin typeface="Calibri"/>
              </a:rPr>
              <a:t>HHS notification filed within 60-day window  ·  No regulatory deficiencies  ·  7 IR plan gaps remediated within 30 days</a:t>
            </a:r>
          </a:p>
        </p:txBody>
      </p:sp>
      <p:sp>
        <p:nvSpPr>
          <p:cNvPr id="15" name="TextBox 14"/>
          <p:cNvSpPr txBox="1"/>
          <p:nvPr/>
        </p:nvSpPr>
        <p:spPr>
          <a:xfrm>
            <a:off x="365760" y="6035040"/>
            <a:ext cx="11430000" cy="640080"/>
          </a:xfrm>
          <a:prstGeom prst="rect">
            <a:avLst/>
          </a:prstGeom>
          <a:noFill/>
        </p:spPr>
        <p:txBody>
          <a:bodyPr wrap="square">
            <a:spAutoFit/>
          </a:bodyPr>
          <a:lstStyle/>
          <a:p>
            <a:pPr algn="l"/>
            <a:r>
              <a:rPr sz="1500" b="0" i="0">
                <a:solidFill>
                  <a:srgbClr val="CADCFC"/>
                </a:solidFill>
                <a:latin typeface="Calibri"/>
              </a:rPr>
              <a:t>Tabletop exercise run 3 months later passed with no critical gaps — the first time this team had a fully tested, operationally ready IR plan.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55448"/>
            <a:ext cx="8686800" cy="640080"/>
          </a:xfrm>
          <a:prstGeom prst="rect">
            <a:avLst/>
          </a:prstGeom>
          <a:noFill/>
        </p:spPr>
        <p:txBody>
          <a:bodyPr wrap="square">
            <a:spAutoFit/>
          </a:bodyPr>
          <a:lstStyle/>
          <a:p>
            <a:pPr algn="l"/>
            <a:r>
              <a:rPr sz="2200" b="1" i="0">
                <a:solidFill>
                  <a:srgbClr val="FFFFFF"/>
                </a:solidFill>
                <a:latin typeface="Calibri"/>
              </a:rPr>
              <a:t>NIST CSF Gap Analysis</a:t>
            </a:r>
          </a:p>
        </p:txBody>
      </p:sp>
      <p:sp>
        <p:nvSpPr>
          <p:cNvPr id="4" name="Rounded Rectangle 3"/>
          <p:cNvSpPr/>
          <p:nvPr/>
        </p:nvSpPr>
        <p:spPr>
          <a:xfrm>
            <a:off x="9418320" y="201168"/>
            <a:ext cx="2468880" cy="502920"/>
          </a:xfrm>
          <a:prstGeom prst="roundRect">
            <a:avLst/>
          </a:prstGeom>
          <a:solidFill>
            <a:srgbClr val="4B3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36608" y="219456"/>
            <a:ext cx="2468880" cy="457200"/>
          </a:xfrm>
          <a:prstGeom prst="rect">
            <a:avLst/>
          </a:prstGeom>
          <a:noFill/>
        </p:spPr>
        <p:txBody>
          <a:bodyPr wrap="square">
            <a:spAutoFit/>
          </a:bodyPr>
          <a:lstStyle/>
          <a:p>
            <a:pPr algn="ctr"/>
            <a:r>
              <a:rPr sz="1800" b="1" i="0">
                <a:solidFill>
                  <a:srgbClr val="FFFFFF"/>
                </a:solidFill>
                <a:latin typeface="Calibri"/>
              </a:rPr>
              <a:t>Federal Civilian Agency — FISMA</a:t>
            </a:r>
          </a:p>
        </p:txBody>
      </p:sp>
      <p:sp>
        <p:nvSpPr>
          <p:cNvPr id="6" name="Rectangle 5"/>
          <p:cNvSpPr/>
          <p:nvPr/>
        </p:nvSpPr>
        <p:spPr>
          <a:xfrm>
            <a:off x="274320" y="1051560"/>
            <a:ext cx="5029200" cy="4069080"/>
          </a:xfrm>
          <a:prstGeom prst="rect">
            <a:avLst/>
          </a:prstGeom>
          <a:solidFill>
            <a:srgbClr val="EE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15568"/>
            <a:ext cx="3200400" cy="274320"/>
          </a:xfrm>
          <a:prstGeom prst="rect">
            <a:avLst/>
          </a:prstGeom>
          <a:noFill/>
        </p:spPr>
        <p:txBody>
          <a:bodyPr wrap="none">
            <a:spAutoFit/>
          </a:bodyPr>
          <a:lstStyle/>
          <a:p>
            <a:r>
              <a:rPr sz="1100" b="1">
                <a:solidFill>
                  <a:srgbClr val="028090"/>
                </a:solidFill>
                <a:latin typeface="Calibri"/>
              </a:rPr>
              <a:t>SITUATION &amp; TASK</a:t>
            </a:r>
          </a:p>
        </p:txBody>
      </p:sp>
      <p:sp>
        <p:nvSpPr>
          <p:cNvPr id="8" name="TextBox 7"/>
          <p:cNvSpPr txBox="1"/>
          <p:nvPr/>
        </p:nvSpPr>
        <p:spPr>
          <a:xfrm>
            <a:off x="411480" y="1417320"/>
            <a:ext cx="4800600" cy="3611880"/>
          </a:xfrm>
          <a:prstGeom prst="rect">
            <a:avLst/>
          </a:prstGeom>
          <a:noFill/>
        </p:spPr>
        <p:txBody>
          <a:bodyPr wrap="square">
            <a:spAutoFit/>
          </a:bodyPr>
          <a:lstStyle/>
          <a:p>
            <a:pPr algn="l"/>
            <a:r>
              <a:rPr sz="1500" b="0" i="0">
                <a:solidFill>
                  <a:srgbClr val="1E273D"/>
                </a:solidFill>
                <a:latin typeface="Calibri"/>
              </a:rPr>
              <a:t>A federal civilian agency needed its annual FISMA assessment completed using NIST CSF 2.0 as the reporting overlay. The IT security team hadn't had a formal gap analysis in 3 years and could not translate technical findings into language the CIO and program managers could act on. The team had never gotten an assessment report accepted without revision requests.</a:t>
            </a:r>
          </a:p>
        </p:txBody>
      </p:sp>
      <p:sp>
        <p:nvSpPr>
          <p:cNvPr id="9" name="Rectangle 8"/>
          <p:cNvSpPr/>
          <p:nvPr/>
        </p:nvSpPr>
        <p:spPr>
          <a:xfrm>
            <a:off x="5577840" y="1051560"/>
            <a:ext cx="6309360" cy="4069080"/>
          </a:xfrm>
          <a:prstGeom prst="rect">
            <a:avLst/>
          </a:prstGeom>
          <a:solidFill>
            <a:srgbClr val="FFFFF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1115568"/>
            <a:ext cx="3657600" cy="274320"/>
          </a:xfrm>
          <a:prstGeom prst="rect">
            <a:avLst/>
          </a:prstGeom>
          <a:noFill/>
        </p:spPr>
        <p:txBody>
          <a:bodyPr wrap="none">
            <a:spAutoFit/>
          </a:bodyPr>
          <a:lstStyle/>
          <a:p>
            <a:r>
              <a:rPr sz="1100" b="1">
                <a:solidFill>
                  <a:srgbClr val="028090"/>
                </a:solidFill>
                <a:latin typeface="Calibri"/>
              </a:rPr>
              <a:t>ACTIONS I TOOK</a:t>
            </a:r>
          </a:p>
        </p:txBody>
      </p:sp>
      <p:sp>
        <p:nvSpPr>
          <p:cNvPr id="11" name="TextBox 10"/>
          <p:cNvSpPr txBox="1"/>
          <p:nvPr/>
        </p:nvSpPr>
        <p:spPr>
          <a:xfrm>
            <a:off x="5715000" y="1417320"/>
            <a:ext cx="6035040" cy="3611880"/>
          </a:xfrm>
          <a:prstGeom prst="rect">
            <a:avLst/>
          </a:prstGeom>
          <a:noFill/>
        </p:spPr>
        <p:txBody>
          <a:bodyPr wrap="square">
            <a:spAutoFit/>
          </a:bodyPr>
          <a:lstStyle/>
          <a:p>
            <a:pPr algn="l">
              <a:spcAft>
                <a:spcPts val="700"/>
              </a:spcAft>
            </a:pPr>
            <a:r>
              <a:rPr sz="1500">
                <a:solidFill>
                  <a:srgbClr val="1E273D"/>
                </a:solidFill>
                <a:latin typeface="Calibri"/>
              </a:rPr>
              <a:t>▸  Developed the scoring rubric and interview guide first, shared with federal team leads for feedback before use — not a unilateral GRC document</a:t>
            </a:r>
          </a:p>
          <a:p>
            <a:pPr algn="l">
              <a:spcAft>
                <a:spcPts val="700"/>
              </a:spcAft>
            </a:pPr>
            <a:r>
              <a:rPr sz="1500">
                <a:solidFill>
                  <a:srgbClr val="1E273D"/>
                </a:solidFill>
                <a:latin typeface="Calibri"/>
              </a:rPr>
              <a:t>▸  During subcategory interviews I deferred all technical judgments to the IT staff; my role was to ask the right questions and document accurately</a:t>
            </a:r>
          </a:p>
          <a:p>
            <a:pPr algn="l">
              <a:spcAft>
                <a:spcPts val="700"/>
              </a:spcAft>
            </a:pPr>
            <a:r>
              <a:rPr sz="1500">
                <a:solidFill>
                  <a:srgbClr val="1E273D"/>
                </a:solidFill>
                <a:latin typeface="Calibri"/>
              </a:rPr>
              <a:t>▸  Challenged the Detect function scores when they felt inconsistent — proposed a follow-up SOC team session rather than accepting numbers that didn't add up</a:t>
            </a:r>
          </a:p>
          <a:p>
            <a:pPr algn="l">
              <a:spcAft>
                <a:spcPts val="700"/>
              </a:spcAft>
            </a:pPr>
            <a:r>
              <a:rPr sz="1500">
                <a:solidFill>
                  <a:srgbClr val="1E273D"/>
                </a:solidFill>
                <a:latin typeface="Calibri"/>
              </a:rPr>
              <a:t>▸  Built the remediation roadmap collaboratively: I drafted the priority ranking, the technical SME validated feasibility, and federal leads confirmed budget cycle alignment before finalization</a:t>
            </a:r>
          </a:p>
        </p:txBody>
      </p:sp>
      <p:sp>
        <p:nvSpPr>
          <p:cNvPr id="12" name="Rectangle 11"/>
          <p:cNvSpPr/>
          <p:nvPr/>
        </p:nvSpPr>
        <p:spPr>
          <a:xfrm>
            <a:off x="0" y="5285232"/>
            <a:ext cx="12188952" cy="1572768"/>
          </a:xfrm>
          <a:prstGeom prst="rect">
            <a:avLst/>
          </a:prstGeom>
          <a:solidFill>
            <a:srgbClr val="04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376672"/>
            <a:ext cx="2743200" cy="274320"/>
          </a:xfrm>
          <a:prstGeom prst="rect">
            <a:avLst/>
          </a:prstGeom>
          <a:noFill/>
        </p:spPr>
        <p:txBody>
          <a:bodyPr wrap="none">
            <a:spAutoFit/>
          </a:bodyPr>
          <a:lstStyle/>
          <a:p>
            <a:r>
              <a:rPr sz="1500" b="1">
                <a:solidFill>
                  <a:srgbClr val="F5C518"/>
                </a:solidFill>
                <a:latin typeface="Calibri"/>
              </a:rPr>
              <a:t>🏆  THE WIN</a:t>
            </a:r>
          </a:p>
        </p:txBody>
      </p:sp>
      <p:sp>
        <p:nvSpPr>
          <p:cNvPr id="14" name="TextBox 13"/>
          <p:cNvSpPr txBox="1"/>
          <p:nvPr/>
        </p:nvSpPr>
        <p:spPr>
          <a:xfrm>
            <a:off x="365760" y="5623560"/>
            <a:ext cx="11430000" cy="457200"/>
          </a:xfrm>
          <a:prstGeom prst="rect">
            <a:avLst/>
          </a:prstGeom>
          <a:noFill/>
        </p:spPr>
        <p:txBody>
          <a:bodyPr wrap="square">
            <a:spAutoFit/>
          </a:bodyPr>
          <a:lstStyle/>
          <a:p>
            <a:pPr algn="l"/>
            <a:r>
              <a:rPr sz="1800" b="1" i="0">
                <a:solidFill>
                  <a:srgbClr val="FFFFFF"/>
                </a:solidFill>
                <a:latin typeface="Calibri"/>
              </a:rPr>
              <a:t>CIO accepted report without a single revision — first time on this contract  ·  2 remediation actions funded in the next federal budget cycle</a:t>
            </a:r>
          </a:p>
        </p:txBody>
      </p:sp>
      <p:sp>
        <p:nvSpPr>
          <p:cNvPr id="15" name="TextBox 14"/>
          <p:cNvSpPr txBox="1"/>
          <p:nvPr/>
        </p:nvSpPr>
        <p:spPr>
          <a:xfrm>
            <a:off x="365760" y="6035040"/>
            <a:ext cx="11430000" cy="640080"/>
          </a:xfrm>
          <a:prstGeom prst="rect">
            <a:avLst/>
          </a:prstGeom>
          <a:noFill/>
        </p:spPr>
        <p:txBody>
          <a:bodyPr wrap="square">
            <a:spAutoFit/>
          </a:bodyPr>
          <a:lstStyle/>
          <a:p>
            <a:pPr algn="l"/>
            <a:r>
              <a:rPr sz="1500" b="0" i="0">
                <a:solidFill>
                  <a:srgbClr val="CADCFC"/>
                </a:solidFill>
                <a:latin typeface="Calibri"/>
              </a:rPr>
              <a:t>The documented methodology was adopted verbatim by the agency's internal team for the following year's self-assessment — the GRC process became a lasting institutional asset.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55448"/>
            <a:ext cx="8686800" cy="640080"/>
          </a:xfrm>
          <a:prstGeom prst="rect">
            <a:avLst/>
          </a:prstGeom>
          <a:noFill/>
        </p:spPr>
        <p:txBody>
          <a:bodyPr wrap="square">
            <a:spAutoFit/>
          </a:bodyPr>
          <a:lstStyle/>
          <a:p>
            <a:pPr algn="l"/>
            <a:r>
              <a:rPr sz="2200" b="1" i="0">
                <a:solidFill>
                  <a:srgbClr val="FFFFFF"/>
                </a:solidFill>
                <a:latin typeface="Calibri"/>
              </a:rPr>
              <a:t>Cross-Framework Compliance Mapping</a:t>
            </a:r>
          </a:p>
        </p:txBody>
      </p:sp>
      <p:sp>
        <p:nvSpPr>
          <p:cNvPr id="4" name="Rounded Rectangle 3"/>
          <p:cNvSpPr/>
          <p:nvPr/>
        </p:nvSpPr>
        <p:spPr>
          <a:xfrm>
            <a:off x="9418320" y="201168"/>
            <a:ext cx="2468880" cy="502920"/>
          </a:xfrm>
          <a:prstGeom prst="roundRect">
            <a:avLst/>
          </a:prstGeom>
          <a:solidFill>
            <a:srgbClr val="5B21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36608" y="219456"/>
            <a:ext cx="2468880" cy="457200"/>
          </a:xfrm>
          <a:prstGeom prst="rect">
            <a:avLst/>
          </a:prstGeom>
          <a:noFill/>
        </p:spPr>
        <p:txBody>
          <a:bodyPr wrap="square">
            <a:spAutoFit/>
          </a:bodyPr>
          <a:lstStyle/>
          <a:p>
            <a:pPr algn="ctr"/>
            <a:r>
              <a:rPr sz="1800" b="1" i="0">
                <a:solidFill>
                  <a:srgbClr val="FFFFFF"/>
                </a:solidFill>
                <a:latin typeface="Calibri"/>
              </a:rPr>
              <a:t>Federal IT Contractor — FedRAMP</a:t>
            </a:r>
          </a:p>
        </p:txBody>
      </p:sp>
      <p:sp>
        <p:nvSpPr>
          <p:cNvPr id="6" name="Rectangle 5"/>
          <p:cNvSpPr/>
          <p:nvPr/>
        </p:nvSpPr>
        <p:spPr>
          <a:xfrm>
            <a:off x="274320" y="1051560"/>
            <a:ext cx="5029200" cy="4069080"/>
          </a:xfrm>
          <a:prstGeom prst="rect">
            <a:avLst/>
          </a:prstGeom>
          <a:solidFill>
            <a:srgbClr val="EE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15568"/>
            <a:ext cx="3200400" cy="274320"/>
          </a:xfrm>
          <a:prstGeom prst="rect">
            <a:avLst/>
          </a:prstGeom>
          <a:noFill/>
        </p:spPr>
        <p:txBody>
          <a:bodyPr wrap="none">
            <a:spAutoFit/>
          </a:bodyPr>
          <a:lstStyle/>
          <a:p>
            <a:r>
              <a:rPr sz="1100" b="1">
                <a:solidFill>
                  <a:srgbClr val="028090"/>
                </a:solidFill>
                <a:latin typeface="Calibri"/>
              </a:rPr>
              <a:t>SITUATION &amp; TASK</a:t>
            </a:r>
          </a:p>
        </p:txBody>
      </p:sp>
      <p:sp>
        <p:nvSpPr>
          <p:cNvPr id="8" name="TextBox 7"/>
          <p:cNvSpPr txBox="1"/>
          <p:nvPr/>
        </p:nvSpPr>
        <p:spPr>
          <a:xfrm>
            <a:off x="411480" y="1417320"/>
            <a:ext cx="4800600" cy="3611880"/>
          </a:xfrm>
          <a:prstGeom prst="rect">
            <a:avLst/>
          </a:prstGeom>
          <a:noFill/>
        </p:spPr>
        <p:txBody>
          <a:bodyPr wrap="square">
            <a:spAutoFit/>
          </a:bodyPr>
          <a:lstStyle/>
          <a:p>
            <a:pPr algn="l"/>
            <a:r>
              <a:rPr sz="1500" b="0" i="0">
                <a:solidFill>
                  <a:srgbClr val="1E273D"/>
                </a:solidFill>
                <a:latin typeface="Calibri"/>
              </a:rPr>
              <a:t>A federal IT contractor was simultaneously pursuing FedRAMP Moderate authorization, maintaining NIST SP 800-53 compliance, and onboarding an ISO 27001 requirement under a new contract. Three separate compliance workstreams were duplicating evidence collection, fatiguing control owners, and pushing the team toward a missed FedRAMP submission deadline.</a:t>
            </a:r>
          </a:p>
        </p:txBody>
      </p:sp>
      <p:sp>
        <p:nvSpPr>
          <p:cNvPr id="9" name="Rectangle 8"/>
          <p:cNvSpPr/>
          <p:nvPr/>
        </p:nvSpPr>
        <p:spPr>
          <a:xfrm>
            <a:off x="5577840" y="1051560"/>
            <a:ext cx="6309360" cy="4069080"/>
          </a:xfrm>
          <a:prstGeom prst="rect">
            <a:avLst/>
          </a:prstGeom>
          <a:solidFill>
            <a:srgbClr val="FFFFF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1115568"/>
            <a:ext cx="3657600" cy="274320"/>
          </a:xfrm>
          <a:prstGeom prst="rect">
            <a:avLst/>
          </a:prstGeom>
          <a:noFill/>
        </p:spPr>
        <p:txBody>
          <a:bodyPr wrap="none">
            <a:spAutoFit/>
          </a:bodyPr>
          <a:lstStyle/>
          <a:p>
            <a:r>
              <a:rPr sz="1100" b="1">
                <a:solidFill>
                  <a:srgbClr val="028090"/>
                </a:solidFill>
                <a:latin typeface="Calibri"/>
              </a:rPr>
              <a:t>ACTIONS I TOOK</a:t>
            </a:r>
          </a:p>
        </p:txBody>
      </p:sp>
      <p:sp>
        <p:nvSpPr>
          <p:cNvPr id="11" name="TextBox 10"/>
          <p:cNvSpPr txBox="1"/>
          <p:nvPr/>
        </p:nvSpPr>
        <p:spPr>
          <a:xfrm>
            <a:off x="5715000" y="1417320"/>
            <a:ext cx="6035040" cy="3611880"/>
          </a:xfrm>
          <a:prstGeom prst="rect">
            <a:avLst/>
          </a:prstGeom>
          <a:noFill/>
        </p:spPr>
        <p:txBody>
          <a:bodyPr wrap="square">
            <a:spAutoFit/>
          </a:bodyPr>
          <a:lstStyle/>
          <a:p>
            <a:pPr algn="l">
              <a:spcAft>
                <a:spcPts val="700"/>
              </a:spcAft>
            </a:pPr>
            <a:r>
              <a:rPr sz="1500">
                <a:solidFill>
                  <a:srgbClr val="1E273D"/>
                </a:solidFill>
                <a:latin typeface="Calibri"/>
              </a:rPr>
              <a:t>▸  Researched the overlap between NIST CSF 2.0, NIST 800-53 Rev. 5, ISO 27001:2022, and SOC 2 TSC using NIST guidance and AICPA crosswalk documentation</a:t>
            </a:r>
          </a:p>
          <a:p>
            <a:pPr algn="l">
              <a:spcAft>
                <a:spcPts val="700"/>
              </a:spcAft>
            </a:pPr>
            <a:r>
              <a:rPr sz="1500">
                <a:solidFill>
                  <a:srgbClr val="1E273D"/>
                </a:solidFill>
                <a:latin typeface="Calibri"/>
              </a:rPr>
              <a:t>▸  Built the mapping collaboratively — ran weekly 30-minute syncs with each control owner to validate that mappings held in their specific environment, not just on paper</a:t>
            </a:r>
          </a:p>
          <a:p>
            <a:pPr algn="l">
              <a:spcAft>
                <a:spcPts val="700"/>
              </a:spcAft>
            </a:pPr>
            <a:r>
              <a:rPr sz="1500">
                <a:solidFill>
                  <a:srgbClr val="1E273D"/>
                </a:solidFill>
                <a:latin typeface="Calibri"/>
              </a:rPr>
              <a:t>▸  Flagged gaps (where a control satisfied one framework but not another) to senior analysts rather than resolving them unilaterally — kept the team as the decision-makers</a:t>
            </a:r>
          </a:p>
          <a:p>
            <a:pPr algn="l">
              <a:spcAft>
                <a:spcPts val="700"/>
              </a:spcAft>
            </a:pPr>
            <a:r>
              <a:rPr sz="1500">
                <a:solidFill>
                  <a:srgbClr val="1E273D"/>
                </a:solidFill>
                <a:latin typeface="Calibri"/>
              </a:rPr>
              <a:t>▸  Presented the 'map once, comply many' approach to the Program Security Officer before rollout to get leadership alignment first</a:t>
            </a:r>
          </a:p>
        </p:txBody>
      </p:sp>
      <p:sp>
        <p:nvSpPr>
          <p:cNvPr id="12" name="Rectangle 11"/>
          <p:cNvSpPr/>
          <p:nvPr/>
        </p:nvSpPr>
        <p:spPr>
          <a:xfrm>
            <a:off x="0" y="5285232"/>
            <a:ext cx="12188952" cy="1572768"/>
          </a:xfrm>
          <a:prstGeom prst="rect">
            <a:avLst/>
          </a:prstGeom>
          <a:solidFill>
            <a:srgbClr val="04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376672"/>
            <a:ext cx="2743200" cy="274320"/>
          </a:xfrm>
          <a:prstGeom prst="rect">
            <a:avLst/>
          </a:prstGeom>
          <a:noFill/>
        </p:spPr>
        <p:txBody>
          <a:bodyPr wrap="none">
            <a:spAutoFit/>
          </a:bodyPr>
          <a:lstStyle/>
          <a:p>
            <a:r>
              <a:rPr sz="1500" b="1">
                <a:solidFill>
                  <a:srgbClr val="F5C518"/>
                </a:solidFill>
                <a:latin typeface="Calibri"/>
              </a:rPr>
              <a:t>🏆  THE WIN</a:t>
            </a:r>
          </a:p>
        </p:txBody>
      </p:sp>
      <p:sp>
        <p:nvSpPr>
          <p:cNvPr id="14" name="TextBox 13"/>
          <p:cNvSpPr txBox="1"/>
          <p:nvPr/>
        </p:nvSpPr>
        <p:spPr>
          <a:xfrm>
            <a:off x="365760" y="5623560"/>
            <a:ext cx="11430000" cy="457200"/>
          </a:xfrm>
          <a:prstGeom prst="rect">
            <a:avLst/>
          </a:prstGeom>
          <a:noFill/>
        </p:spPr>
        <p:txBody>
          <a:bodyPr wrap="square">
            <a:spAutoFit/>
          </a:bodyPr>
          <a:lstStyle/>
          <a:p>
            <a:pPr algn="l"/>
            <a:r>
              <a:rPr sz="1800" b="1" i="0">
                <a:solidFill>
                  <a:srgbClr val="FFFFFF"/>
                </a:solidFill>
                <a:latin typeface="Calibri"/>
              </a:rPr>
              <a:t>40% reduction in evidence collection requests to control owners  ·  FedRAMP submission on schedule  ·  ISO 27001 readiness used the same evidence package</a:t>
            </a:r>
          </a:p>
        </p:txBody>
      </p:sp>
      <p:sp>
        <p:nvSpPr>
          <p:cNvPr id="15" name="TextBox 14"/>
          <p:cNvSpPr txBox="1"/>
          <p:nvPr/>
        </p:nvSpPr>
        <p:spPr>
          <a:xfrm>
            <a:off x="365760" y="6035040"/>
            <a:ext cx="11430000" cy="640080"/>
          </a:xfrm>
          <a:prstGeom prst="rect">
            <a:avLst/>
          </a:prstGeom>
          <a:noFill/>
        </p:spPr>
        <p:txBody>
          <a:bodyPr wrap="square">
            <a:spAutoFit/>
          </a:bodyPr>
          <a:lstStyle/>
          <a:p>
            <a:pPr algn="l"/>
            <a:r>
              <a:rPr sz="1500" b="0" i="0">
                <a:solidFill>
                  <a:srgbClr val="CADCFC"/>
                </a:solidFill>
                <a:latin typeface="Calibri"/>
              </a:rPr>
              <a:t>The mapping was formally adopted as a permanent team asset, updated each compliance cycle — and later included in the contractor's proposal library for future federal engagements.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55448"/>
            <a:ext cx="8686800" cy="640080"/>
          </a:xfrm>
          <a:prstGeom prst="rect">
            <a:avLst/>
          </a:prstGeom>
          <a:noFill/>
        </p:spPr>
        <p:txBody>
          <a:bodyPr wrap="square">
            <a:spAutoFit/>
          </a:bodyPr>
          <a:lstStyle/>
          <a:p>
            <a:pPr algn="l"/>
            <a:r>
              <a:rPr sz="2200" b="1" i="0">
                <a:solidFill>
                  <a:srgbClr val="FFFFFF"/>
                </a:solidFill>
                <a:latin typeface="Calibri"/>
              </a:rPr>
              <a:t>Security Awareness Training</a:t>
            </a:r>
          </a:p>
        </p:txBody>
      </p:sp>
      <p:sp>
        <p:nvSpPr>
          <p:cNvPr id="4" name="Rounded Rectangle 3"/>
          <p:cNvSpPr/>
          <p:nvPr/>
        </p:nvSpPr>
        <p:spPr>
          <a:xfrm>
            <a:off x="9418320" y="201168"/>
            <a:ext cx="2468880" cy="502920"/>
          </a:xfrm>
          <a:prstGeom prst="round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36608" y="219456"/>
            <a:ext cx="2468880" cy="457200"/>
          </a:xfrm>
          <a:prstGeom prst="rect">
            <a:avLst/>
          </a:prstGeom>
          <a:noFill/>
        </p:spPr>
        <p:txBody>
          <a:bodyPr wrap="square">
            <a:spAutoFit/>
          </a:bodyPr>
          <a:lstStyle/>
          <a:p>
            <a:pPr algn="ctr"/>
            <a:r>
              <a:rPr sz="1800" b="1" i="0">
                <a:solidFill>
                  <a:srgbClr val="FFFFFF"/>
                </a:solidFill>
                <a:latin typeface="Calibri"/>
              </a:rPr>
              <a:t>Property &amp; Casualty Insurance — NAIC</a:t>
            </a:r>
          </a:p>
        </p:txBody>
      </p:sp>
      <p:sp>
        <p:nvSpPr>
          <p:cNvPr id="6" name="Rectangle 5"/>
          <p:cNvSpPr/>
          <p:nvPr/>
        </p:nvSpPr>
        <p:spPr>
          <a:xfrm>
            <a:off x="274320" y="1051560"/>
            <a:ext cx="5029200" cy="4069080"/>
          </a:xfrm>
          <a:prstGeom prst="rect">
            <a:avLst/>
          </a:prstGeom>
          <a:solidFill>
            <a:srgbClr val="EE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15568"/>
            <a:ext cx="3200400" cy="274320"/>
          </a:xfrm>
          <a:prstGeom prst="rect">
            <a:avLst/>
          </a:prstGeom>
          <a:noFill/>
        </p:spPr>
        <p:txBody>
          <a:bodyPr wrap="none">
            <a:spAutoFit/>
          </a:bodyPr>
          <a:lstStyle/>
          <a:p>
            <a:r>
              <a:rPr sz="1100" b="1">
                <a:solidFill>
                  <a:srgbClr val="028090"/>
                </a:solidFill>
                <a:latin typeface="Calibri"/>
              </a:rPr>
              <a:t>SITUATION &amp; TASK</a:t>
            </a:r>
          </a:p>
        </p:txBody>
      </p:sp>
      <p:sp>
        <p:nvSpPr>
          <p:cNvPr id="8" name="TextBox 7"/>
          <p:cNvSpPr txBox="1"/>
          <p:nvPr/>
        </p:nvSpPr>
        <p:spPr>
          <a:xfrm>
            <a:off x="411480" y="1417320"/>
            <a:ext cx="4800600" cy="3611880"/>
          </a:xfrm>
          <a:prstGeom prst="rect">
            <a:avLst/>
          </a:prstGeom>
          <a:noFill/>
        </p:spPr>
        <p:txBody>
          <a:bodyPr wrap="square">
            <a:spAutoFit/>
          </a:bodyPr>
          <a:lstStyle/>
          <a:p>
            <a:pPr algn="l"/>
            <a:r>
              <a:rPr sz="1500" b="0" i="0">
                <a:solidFill>
                  <a:srgbClr val="1E273D"/>
                </a:solidFill>
                <a:latin typeface="Calibri"/>
              </a:rPr>
              <a:t>A P&amp;C insurance carrier had 55% training completion and a 23% phishing click rate for 3 consecutive years. NAIC Insurance Data Security Model Law regulators were beginning to question the program's effectiveness — not just its existence. Generic off-the-shelf training wasn't landing with claims adjusters and underwriters who handled sensitive policyholder PII daily.</a:t>
            </a:r>
          </a:p>
        </p:txBody>
      </p:sp>
      <p:sp>
        <p:nvSpPr>
          <p:cNvPr id="9" name="Rectangle 8"/>
          <p:cNvSpPr/>
          <p:nvPr/>
        </p:nvSpPr>
        <p:spPr>
          <a:xfrm>
            <a:off x="5577840" y="1051560"/>
            <a:ext cx="6309360" cy="4069080"/>
          </a:xfrm>
          <a:prstGeom prst="rect">
            <a:avLst/>
          </a:prstGeom>
          <a:solidFill>
            <a:srgbClr val="FFFFF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1115568"/>
            <a:ext cx="3657600" cy="274320"/>
          </a:xfrm>
          <a:prstGeom prst="rect">
            <a:avLst/>
          </a:prstGeom>
          <a:noFill/>
        </p:spPr>
        <p:txBody>
          <a:bodyPr wrap="none">
            <a:spAutoFit/>
          </a:bodyPr>
          <a:lstStyle/>
          <a:p>
            <a:r>
              <a:rPr sz="1100" b="1">
                <a:solidFill>
                  <a:srgbClr val="028090"/>
                </a:solidFill>
                <a:latin typeface="Calibri"/>
              </a:rPr>
              <a:t>ACTIONS I TOOK</a:t>
            </a:r>
          </a:p>
        </p:txBody>
      </p:sp>
      <p:sp>
        <p:nvSpPr>
          <p:cNvPr id="11" name="TextBox 10"/>
          <p:cNvSpPr txBox="1"/>
          <p:nvPr/>
        </p:nvSpPr>
        <p:spPr>
          <a:xfrm>
            <a:off x="5715000" y="1417320"/>
            <a:ext cx="6035040" cy="3611880"/>
          </a:xfrm>
          <a:prstGeom prst="rect">
            <a:avLst/>
          </a:prstGeom>
          <a:noFill/>
        </p:spPr>
        <p:txBody>
          <a:bodyPr wrap="square">
            <a:spAutoFit/>
          </a:bodyPr>
          <a:lstStyle/>
          <a:p>
            <a:pPr algn="l">
              <a:spcAft>
                <a:spcPts val="700"/>
              </a:spcAft>
            </a:pPr>
            <a:r>
              <a:rPr sz="1500">
                <a:solidFill>
                  <a:srgbClr val="1E273D"/>
                </a:solidFill>
                <a:latin typeface="Calibri"/>
              </a:rPr>
              <a:t>▸  Observed two existing training sessions and ran an anonymous survey with claims and underwriting staff — discovered that insurance-specific scenarios resonated where generic ones failed</a:t>
            </a:r>
          </a:p>
          <a:p>
            <a:pPr algn="l">
              <a:spcAft>
                <a:spcPts val="700"/>
              </a:spcAft>
            </a:pPr>
            <a:r>
              <a:rPr sz="1500">
                <a:solidFill>
                  <a:srgbClr val="1E273D"/>
                </a:solidFill>
                <a:latin typeface="Calibri"/>
              </a:rPr>
              <a:t>▸  Rewrote the phishing and social engineering modules using scenarios co-developed with a senior underwriter: fake policyholder ACH transfers, reinsurance partner spear-phishing emails</a:t>
            </a:r>
          </a:p>
          <a:p>
            <a:pPr algn="l">
              <a:spcAft>
                <a:spcPts val="700"/>
              </a:spcAft>
            </a:pPr>
            <a:r>
              <a:rPr sz="1500">
                <a:solidFill>
                  <a:srgbClr val="1E273D"/>
                </a:solidFill>
                <a:latin typeface="Calibri"/>
              </a:rPr>
              <a:t>▸  Worked with the HR Learning &amp; Development Manager to restructure from one 45-minute annual module to four 10-minute quarterly modules — aligned to adult learning research and LMS capability</a:t>
            </a:r>
          </a:p>
          <a:p>
            <a:pPr algn="l">
              <a:spcAft>
                <a:spcPts val="700"/>
              </a:spcAft>
            </a:pPr>
            <a:r>
              <a:rPr sz="1500">
                <a:solidFill>
                  <a:srgbClr val="1E273D"/>
                </a:solidFill>
                <a:latin typeface="Calibri"/>
              </a:rPr>
              <a:t>▸  Coordinated phishing simulations to run 2 weeks after each quarterly module so employees could immediately apply what they had learned</a:t>
            </a:r>
          </a:p>
        </p:txBody>
      </p:sp>
      <p:sp>
        <p:nvSpPr>
          <p:cNvPr id="12" name="Rectangle 11"/>
          <p:cNvSpPr/>
          <p:nvPr/>
        </p:nvSpPr>
        <p:spPr>
          <a:xfrm>
            <a:off x="0" y="5285232"/>
            <a:ext cx="12188952" cy="1572768"/>
          </a:xfrm>
          <a:prstGeom prst="rect">
            <a:avLst/>
          </a:prstGeom>
          <a:solidFill>
            <a:srgbClr val="04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376672"/>
            <a:ext cx="2743200" cy="274320"/>
          </a:xfrm>
          <a:prstGeom prst="rect">
            <a:avLst/>
          </a:prstGeom>
          <a:noFill/>
        </p:spPr>
        <p:txBody>
          <a:bodyPr wrap="none">
            <a:spAutoFit/>
          </a:bodyPr>
          <a:lstStyle/>
          <a:p>
            <a:r>
              <a:rPr sz="1500" b="1">
                <a:solidFill>
                  <a:srgbClr val="F5C518"/>
                </a:solidFill>
                <a:latin typeface="Calibri"/>
              </a:rPr>
              <a:t>🏆  THE WIN</a:t>
            </a:r>
          </a:p>
        </p:txBody>
      </p:sp>
      <p:sp>
        <p:nvSpPr>
          <p:cNvPr id="14" name="TextBox 13"/>
          <p:cNvSpPr txBox="1"/>
          <p:nvPr/>
        </p:nvSpPr>
        <p:spPr>
          <a:xfrm>
            <a:off x="365760" y="5623560"/>
            <a:ext cx="11430000" cy="457200"/>
          </a:xfrm>
          <a:prstGeom prst="rect">
            <a:avLst/>
          </a:prstGeom>
          <a:noFill/>
        </p:spPr>
        <p:txBody>
          <a:bodyPr wrap="square">
            <a:spAutoFit/>
          </a:bodyPr>
          <a:lstStyle/>
          <a:p>
            <a:pPr algn="l"/>
            <a:r>
              <a:rPr sz="1800" b="1" i="0">
                <a:solidFill>
                  <a:srgbClr val="FFFFFF"/>
                </a:solidFill>
                <a:latin typeface="Calibri"/>
              </a:rPr>
              <a:t>Completion: 55% → 91%  ·  Phishing click rate: 23% → 9% over 4 quarters  ·  State regulator cited program as best practice in examination report</a:t>
            </a:r>
          </a:p>
        </p:txBody>
      </p:sp>
      <p:sp>
        <p:nvSpPr>
          <p:cNvPr id="15" name="TextBox 14"/>
          <p:cNvSpPr txBox="1"/>
          <p:nvPr/>
        </p:nvSpPr>
        <p:spPr>
          <a:xfrm>
            <a:off x="365760" y="6035040"/>
            <a:ext cx="11430000" cy="640080"/>
          </a:xfrm>
          <a:prstGeom prst="rect">
            <a:avLst/>
          </a:prstGeom>
          <a:noFill/>
        </p:spPr>
        <p:txBody>
          <a:bodyPr wrap="square">
            <a:spAutoFit/>
          </a:bodyPr>
          <a:lstStyle/>
          <a:p>
            <a:pPr algn="l"/>
            <a:r>
              <a:rPr sz="1500" b="0" i="0">
                <a:solidFill>
                  <a:srgbClr val="CADCFC"/>
                </a:solidFill>
                <a:latin typeface="Calibri"/>
              </a:rPr>
              <a:t>The underwriter who co-designed the scenarios became a champion for security practices within her team — proof that GRC collaboration creates internal advocates, not just compliance checkboxes.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55448"/>
            <a:ext cx="8686800" cy="640080"/>
          </a:xfrm>
          <a:prstGeom prst="rect">
            <a:avLst/>
          </a:prstGeom>
          <a:noFill/>
        </p:spPr>
        <p:txBody>
          <a:bodyPr wrap="square">
            <a:spAutoFit/>
          </a:bodyPr>
          <a:lstStyle/>
          <a:p>
            <a:pPr algn="l"/>
            <a:r>
              <a:rPr sz="2200" b="1" i="0">
                <a:solidFill>
                  <a:srgbClr val="FFFFFF"/>
                </a:solidFill>
                <a:latin typeface="Calibri"/>
              </a:rPr>
              <a:t>Risk Register &amp; Methodology</a:t>
            </a:r>
          </a:p>
        </p:txBody>
      </p:sp>
      <p:sp>
        <p:nvSpPr>
          <p:cNvPr id="4" name="Rounded Rectangle 3"/>
          <p:cNvSpPr/>
          <p:nvPr/>
        </p:nvSpPr>
        <p:spPr>
          <a:xfrm>
            <a:off x="9418320" y="201168"/>
            <a:ext cx="2468880" cy="502920"/>
          </a:xfrm>
          <a:prstGeom prst="round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36608" y="219456"/>
            <a:ext cx="2468880" cy="457200"/>
          </a:xfrm>
          <a:prstGeom prst="rect">
            <a:avLst/>
          </a:prstGeom>
          <a:noFill/>
        </p:spPr>
        <p:txBody>
          <a:bodyPr wrap="square">
            <a:spAutoFit/>
          </a:bodyPr>
          <a:lstStyle/>
          <a:p>
            <a:pPr algn="ctr"/>
            <a:r>
              <a:rPr sz="1800" b="1" i="0">
                <a:solidFill>
                  <a:srgbClr val="FFFFFF"/>
                </a:solidFill>
                <a:latin typeface="Calibri"/>
              </a:rPr>
              <a:t>Federal Health Contractor — ATO Package</a:t>
            </a:r>
          </a:p>
        </p:txBody>
      </p:sp>
      <p:sp>
        <p:nvSpPr>
          <p:cNvPr id="6" name="Rectangle 5"/>
          <p:cNvSpPr/>
          <p:nvPr/>
        </p:nvSpPr>
        <p:spPr>
          <a:xfrm>
            <a:off x="274320" y="1051560"/>
            <a:ext cx="5029200" cy="4069080"/>
          </a:xfrm>
          <a:prstGeom prst="rect">
            <a:avLst/>
          </a:prstGeom>
          <a:solidFill>
            <a:srgbClr val="EE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15568"/>
            <a:ext cx="3200400" cy="274320"/>
          </a:xfrm>
          <a:prstGeom prst="rect">
            <a:avLst/>
          </a:prstGeom>
          <a:noFill/>
        </p:spPr>
        <p:txBody>
          <a:bodyPr wrap="none">
            <a:spAutoFit/>
          </a:bodyPr>
          <a:lstStyle/>
          <a:p>
            <a:r>
              <a:rPr sz="1100" b="1">
                <a:solidFill>
                  <a:srgbClr val="028090"/>
                </a:solidFill>
                <a:latin typeface="Calibri"/>
              </a:rPr>
              <a:t>SITUATION &amp; TASK</a:t>
            </a:r>
          </a:p>
        </p:txBody>
      </p:sp>
      <p:sp>
        <p:nvSpPr>
          <p:cNvPr id="8" name="TextBox 7"/>
          <p:cNvSpPr txBox="1"/>
          <p:nvPr/>
        </p:nvSpPr>
        <p:spPr>
          <a:xfrm>
            <a:off x="411480" y="1417320"/>
            <a:ext cx="4800600" cy="3611880"/>
          </a:xfrm>
          <a:prstGeom prst="rect">
            <a:avLst/>
          </a:prstGeom>
          <a:noFill/>
        </p:spPr>
        <p:txBody>
          <a:bodyPr wrap="square">
            <a:spAutoFit/>
          </a:bodyPr>
          <a:lstStyle/>
          <a:p>
            <a:pPr algn="l"/>
            <a:r>
              <a:rPr sz="1500" b="0" i="0">
                <a:solidFill>
                  <a:srgbClr val="1E273D"/>
                </a:solidFill>
                <a:latin typeface="Calibri"/>
              </a:rPr>
              <a:t>A federal health IT contractor (CMS-adjacent program) had never maintained a formal risk register. A known critical vulnerability on a public-facing beneficiary portal had been informally accepted with no documentation trail. ATO reauthorization was approaching and the Authorizing Official would need evidence of mature risk governance. Two IT leads were skeptical the process would help them, and one program manager feared it would reflect poorly on her program.</a:t>
            </a:r>
          </a:p>
        </p:txBody>
      </p:sp>
      <p:sp>
        <p:nvSpPr>
          <p:cNvPr id="9" name="Rectangle 8"/>
          <p:cNvSpPr/>
          <p:nvPr/>
        </p:nvSpPr>
        <p:spPr>
          <a:xfrm>
            <a:off x="5577840" y="1051560"/>
            <a:ext cx="6309360" cy="4069080"/>
          </a:xfrm>
          <a:prstGeom prst="rect">
            <a:avLst/>
          </a:prstGeom>
          <a:solidFill>
            <a:srgbClr val="FFFFF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1115568"/>
            <a:ext cx="3657600" cy="274320"/>
          </a:xfrm>
          <a:prstGeom prst="rect">
            <a:avLst/>
          </a:prstGeom>
          <a:noFill/>
        </p:spPr>
        <p:txBody>
          <a:bodyPr wrap="none">
            <a:spAutoFit/>
          </a:bodyPr>
          <a:lstStyle/>
          <a:p>
            <a:r>
              <a:rPr sz="1100" b="1">
                <a:solidFill>
                  <a:srgbClr val="028090"/>
                </a:solidFill>
                <a:latin typeface="Calibri"/>
              </a:rPr>
              <a:t>ACTIONS I TOOK</a:t>
            </a:r>
          </a:p>
        </p:txBody>
      </p:sp>
      <p:sp>
        <p:nvSpPr>
          <p:cNvPr id="11" name="TextBox 10"/>
          <p:cNvSpPr txBox="1"/>
          <p:nvPr/>
        </p:nvSpPr>
        <p:spPr>
          <a:xfrm>
            <a:off x="5715000" y="1417320"/>
            <a:ext cx="6035040" cy="3611880"/>
          </a:xfrm>
          <a:prstGeom prst="rect">
            <a:avLst/>
          </a:prstGeom>
          <a:noFill/>
        </p:spPr>
        <p:txBody>
          <a:bodyPr wrap="square">
            <a:spAutoFit/>
          </a:bodyPr>
          <a:lstStyle/>
          <a:p>
            <a:pPr algn="l">
              <a:spcAft>
                <a:spcPts val="700"/>
              </a:spcAft>
            </a:pPr>
            <a:r>
              <a:rPr sz="1500">
                <a:solidFill>
                  <a:srgbClr val="1E273D"/>
                </a:solidFill>
                <a:latin typeface="Calibri"/>
              </a:rPr>
              <a:t>▸  Met individually with IT leads and the program manager before building anything — reframed the register as a protection mechanism for them, not a performance review</a:t>
            </a:r>
          </a:p>
          <a:p>
            <a:pPr algn="l">
              <a:spcAft>
                <a:spcPts val="700"/>
              </a:spcAft>
            </a:pPr>
            <a:r>
              <a:rPr sz="1500">
                <a:solidFill>
                  <a:srgbClr val="1E273D"/>
                </a:solidFill>
                <a:latin typeface="Calibri"/>
              </a:rPr>
              <a:t>▸  Designed the scoring methodology collaboratively, sharing draft likelihood and impact scales with the team before finalizing so the scales reflected real-world consequences in their specific program context</a:t>
            </a:r>
          </a:p>
          <a:p>
            <a:pPr algn="l">
              <a:spcAft>
                <a:spcPts val="700"/>
              </a:spcAft>
            </a:pPr>
            <a:r>
              <a:rPr sz="1500">
                <a:solidFill>
                  <a:srgbClr val="1E273D"/>
                </a:solidFill>
                <a:latin typeface="Calibri"/>
              </a:rPr>
              <a:t>▸  Facilitated two half-day risk identification workshops as open working sessions — not interviews — so IT leads felt like co-authors of the register, not subjects of an audit</a:t>
            </a:r>
          </a:p>
          <a:p>
            <a:pPr algn="l">
              <a:spcAft>
                <a:spcPts val="700"/>
              </a:spcAft>
            </a:pPr>
            <a:r>
              <a:rPr sz="1500">
                <a:solidFill>
                  <a:srgbClr val="1E273D"/>
                </a:solidFill>
                <a:latin typeface="Calibri"/>
              </a:rPr>
              <a:t>▸  Ensured every risk treatment decision was made by the designated risk owner, not by me — preserving team accountability and ownership</a:t>
            </a:r>
          </a:p>
        </p:txBody>
      </p:sp>
      <p:sp>
        <p:nvSpPr>
          <p:cNvPr id="12" name="Rectangle 11"/>
          <p:cNvSpPr/>
          <p:nvPr/>
        </p:nvSpPr>
        <p:spPr>
          <a:xfrm>
            <a:off x="0" y="5285232"/>
            <a:ext cx="12188952" cy="1572768"/>
          </a:xfrm>
          <a:prstGeom prst="rect">
            <a:avLst/>
          </a:prstGeom>
          <a:solidFill>
            <a:srgbClr val="04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376672"/>
            <a:ext cx="2743200" cy="274320"/>
          </a:xfrm>
          <a:prstGeom prst="rect">
            <a:avLst/>
          </a:prstGeom>
          <a:noFill/>
        </p:spPr>
        <p:txBody>
          <a:bodyPr wrap="none">
            <a:spAutoFit/>
          </a:bodyPr>
          <a:lstStyle/>
          <a:p>
            <a:r>
              <a:rPr sz="1500" b="1">
                <a:solidFill>
                  <a:srgbClr val="F5C518"/>
                </a:solidFill>
                <a:latin typeface="Calibri"/>
              </a:rPr>
              <a:t>🏆  THE WIN</a:t>
            </a:r>
          </a:p>
        </p:txBody>
      </p:sp>
      <p:sp>
        <p:nvSpPr>
          <p:cNvPr id="14" name="TextBox 13"/>
          <p:cNvSpPr txBox="1"/>
          <p:nvPr/>
        </p:nvSpPr>
        <p:spPr>
          <a:xfrm>
            <a:off x="365760" y="5623560"/>
            <a:ext cx="11430000" cy="457200"/>
          </a:xfrm>
          <a:prstGeom prst="rect">
            <a:avLst/>
          </a:prstGeom>
          <a:noFill/>
        </p:spPr>
        <p:txBody>
          <a:bodyPr wrap="square">
            <a:spAutoFit/>
          </a:bodyPr>
          <a:lstStyle/>
          <a:p>
            <a:pPr algn="l"/>
            <a:r>
              <a:rPr sz="1800" b="1" i="0">
                <a:solidFill>
                  <a:srgbClr val="FFFFFF"/>
                </a:solidFill>
                <a:latin typeface="Calibri"/>
              </a:rPr>
              <a:t>14 risks documented including the previously undisclosed portal vulnerability  ·  ATO reauthorization approved  ·  AO noted 'program maturity'</a:t>
            </a:r>
          </a:p>
        </p:txBody>
      </p:sp>
      <p:sp>
        <p:nvSpPr>
          <p:cNvPr id="15" name="TextBox 14"/>
          <p:cNvSpPr txBox="1"/>
          <p:nvPr/>
        </p:nvSpPr>
        <p:spPr>
          <a:xfrm>
            <a:off x="365760" y="6035040"/>
            <a:ext cx="11430000" cy="640080"/>
          </a:xfrm>
          <a:prstGeom prst="rect">
            <a:avLst/>
          </a:prstGeom>
          <a:noFill/>
        </p:spPr>
        <p:txBody>
          <a:bodyPr wrap="square">
            <a:spAutoFit/>
          </a:bodyPr>
          <a:lstStyle/>
          <a:p>
            <a:pPr algn="l"/>
            <a:r>
              <a:rPr sz="1500" b="0" i="0">
                <a:solidFill>
                  <a:srgbClr val="CADCFC"/>
                </a:solidFill>
                <a:latin typeface="Calibri"/>
              </a:rPr>
              <a:t>The two most skeptical IT leads became the register's most consistent updaters — submitting quarterly reviews without prompting. The methodology was added to the contractor's proposal library for future federal bids.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47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9144000" cy="640080"/>
          </a:xfrm>
          <a:prstGeom prst="rect">
            <a:avLst/>
          </a:prstGeom>
          <a:noFill/>
        </p:spPr>
        <p:txBody>
          <a:bodyPr wrap="square">
            <a:spAutoFit/>
          </a:bodyPr>
          <a:lstStyle/>
          <a:p>
            <a:pPr algn="l"/>
            <a:r>
              <a:rPr sz="2600" b="1" i="0">
                <a:solidFill>
                  <a:srgbClr val="FFFFFF"/>
                </a:solidFill>
                <a:latin typeface="Calibri"/>
              </a:rPr>
              <a:t>The Wins at a Glance</a:t>
            </a:r>
          </a:p>
        </p:txBody>
      </p:sp>
      <p:sp>
        <p:nvSpPr>
          <p:cNvPr id="4" name="TextBox 3"/>
          <p:cNvSpPr txBox="1"/>
          <p:nvPr/>
        </p:nvSpPr>
        <p:spPr>
          <a:xfrm>
            <a:off x="365760" y="621792"/>
            <a:ext cx="9144000" cy="320040"/>
          </a:xfrm>
          <a:prstGeom prst="rect">
            <a:avLst/>
          </a:prstGeom>
          <a:noFill/>
        </p:spPr>
        <p:txBody>
          <a:bodyPr wrap="square">
            <a:spAutoFit/>
          </a:bodyPr>
          <a:lstStyle/>
          <a:p>
            <a:pPr algn="l"/>
            <a:r>
              <a:rPr sz="1500" b="0" i="1">
                <a:solidFill>
                  <a:srgbClr val="CADCFC"/>
                </a:solidFill>
                <a:latin typeface="Calibri"/>
              </a:rPr>
              <a:t>7 portfolio pieces  ·  3 industries  ·  measurable outcomes every time</a:t>
            </a:r>
          </a:p>
        </p:txBody>
      </p:sp>
      <p:sp>
        <p:nvSpPr>
          <p:cNvPr id="5" name="Rectangle 4"/>
          <p:cNvSpPr/>
          <p:nvPr/>
        </p:nvSpPr>
        <p:spPr>
          <a:xfrm>
            <a:off x="274320" y="1143000"/>
            <a:ext cx="1600200" cy="2103120"/>
          </a:xfrm>
          <a:prstGeom prst="rect">
            <a:avLst/>
          </a:prstGeom>
          <a:solidFill>
            <a:srgbClr val="263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280160"/>
            <a:ext cx="1417320" cy="685800"/>
          </a:xfrm>
          <a:prstGeom prst="rect">
            <a:avLst/>
          </a:prstGeom>
          <a:noFill/>
        </p:spPr>
        <p:txBody>
          <a:bodyPr wrap="square">
            <a:spAutoFit/>
          </a:bodyPr>
          <a:lstStyle/>
          <a:p>
            <a:pPr algn="ctr"/>
            <a:r>
              <a:rPr sz="2800" b="1" i="0">
                <a:solidFill>
                  <a:srgbClr val="F5C518"/>
                </a:solidFill>
                <a:latin typeface="Calibri"/>
              </a:rPr>
              <a:t>94%</a:t>
            </a:r>
          </a:p>
        </p:txBody>
      </p:sp>
      <p:sp>
        <p:nvSpPr>
          <p:cNvPr id="7" name="TextBox 6"/>
          <p:cNvSpPr txBox="1"/>
          <p:nvPr/>
        </p:nvSpPr>
        <p:spPr>
          <a:xfrm>
            <a:off x="347472" y="1965960"/>
            <a:ext cx="1453896" cy="457200"/>
          </a:xfrm>
          <a:prstGeom prst="rect">
            <a:avLst/>
          </a:prstGeom>
          <a:noFill/>
        </p:spPr>
        <p:txBody>
          <a:bodyPr wrap="square">
            <a:spAutoFit/>
          </a:bodyPr>
          <a:lstStyle/>
          <a:p>
            <a:pPr algn="ctr"/>
            <a:r>
              <a:rPr sz="1500" b="1" i="0">
                <a:solidFill>
                  <a:srgbClr val="FFFFFF"/>
                </a:solidFill>
                <a:latin typeface="Calibri"/>
              </a:rPr>
              <a:t>Employee AUP acknowledgment</a:t>
            </a:r>
          </a:p>
        </p:txBody>
      </p:sp>
      <p:sp>
        <p:nvSpPr>
          <p:cNvPr id="8" name="TextBox 7"/>
          <p:cNvSpPr txBox="1"/>
          <p:nvPr/>
        </p:nvSpPr>
        <p:spPr>
          <a:xfrm>
            <a:off x="347472" y="2404872"/>
            <a:ext cx="1453896" cy="640080"/>
          </a:xfrm>
          <a:prstGeom prst="rect">
            <a:avLst/>
          </a:prstGeom>
          <a:noFill/>
        </p:spPr>
        <p:txBody>
          <a:bodyPr wrap="square">
            <a:spAutoFit/>
          </a:bodyPr>
          <a:lstStyle/>
          <a:p>
            <a:pPr algn="ctr"/>
            <a:r>
              <a:rPr sz="1500" b="0" i="1">
                <a:solidFill>
                  <a:srgbClr val="CADCFC"/>
                </a:solidFill>
                <a:latin typeface="Calibri"/>
              </a:rPr>
              <a:t>Health Insurance · HIPAA gap closed</a:t>
            </a:r>
          </a:p>
        </p:txBody>
      </p:sp>
      <p:sp>
        <p:nvSpPr>
          <p:cNvPr id="9" name="Rectangle 8"/>
          <p:cNvSpPr/>
          <p:nvPr/>
        </p:nvSpPr>
        <p:spPr>
          <a:xfrm>
            <a:off x="2057400" y="1143000"/>
            <a:ext cx="1600200" cy="2103120"/>
          </a:xfrm>
          <a:prstGeom prst="rect">
            <a:avLst/>
          </a:prstGeom>
          <a:solidFill>
            <a:srgbClr val="263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1280160"/>
            <a:ext cx="1417320" cy="685800"/>
          </a:xfrm>
          <a:prstGeom prst="rect">
            <a:avLst/>
          </a:prstGeom>
          <a:noFill/>
        </p:spPr>
        <p:txBody>
          <a:bodyPr wrap="square">
            <a:spAutoFit/>
          </a:bodyPr>
          <a:lstStyle/>
          <a:p>
            <a:pPr algn="ctr"/>
            <a:r>
              <a:rPr sz="2800" b="1" i="0">
                <a:solidFill>
                  <a:srgbClr val="F5C518"/>
                </a:solidFill>
                <a:latin typeface="Calibri"/>
              </a:rPr>
              <a:t>6 wks</a:t>
            </a:r>
          </a:p>
        </p:txBody>
      </p:sp>
      <p:sp>
        <p:nvSpPr>
          <p:cNvPr id="11" name="TextBox 10"/>
          <p:cNvSpPr txBox="1"/>
          <p:nvPr/>
        </p:nvSpPr>
        <p:spPr>
          <a:xfrm>
            <a:off x="2130552" y="1965960"/>
            <a:ext cx="1453896" cy="457200"/>
          </a:xfrm>
          <a:prstGeom prst="rect">
            <a:avLst/>
          </a:prstGeom>
          <a:noFill/>
        </p:spPr>
        <p:txBody>
          <a:bodyPr wrap="square">
            <a:spAutoFit/>
          </a:bodyPr>
          <a:lstStyle/>
          <a:p>
            <a:pPr algn="ctr"/>
            <a:r>
              <a:rPr sz="1500" b="1" i="0">
                <a:solidFill>
                  <a:srgbClr val="FFFFFF"/>
                </a:solidFill>
                <a:latin typeface="Calibri"/>
              </a:rPr>
              <a:t>Data Classification Policy ratified</a:t>
            </a:r>
          </a:p>
        </p:txBody>
      </p:sp>
      <p:sp>
        <p:nvSpPr>
          <p:cNvPr id="12" name="TextBox 11"/>
          <p:cNvSpPr txBox="1"/>
          <p:nvPr/>
        </p:nvSpPr>
        <p:spPr>
          <a:xfrm>
            <a:off x="2130552" y="2404872"/>
            <a:ext cx="1453896" cy="640080"/>
          </a:xfrm>
          <a:prstGeom prst="rect">
            <a:avLst/>
          </a:prstGeom>
          <a:noFill/>
        </p:spPr>
        <p:txBody>
          <a:bodyPr wrap="square">
            <a:spAutoFit/>
          </a:bodyPr>
          <a:lstStyle/>
          <a:p>
            <a:pPr algn="ctr"/>
            <a:r>
              <a:rPr sz="1500" b="0" i="1">
                <a:solidFill>
                  <a:srgbClr val="CADCFC"/>
                </a:solidFill>
                <a:latin typeface="Calibri"/>
              </a:rPr>
              <a:t>Hospital System · zero workflow complaints</a:t>
            </a:r>
          </a:p>
        </p:txBody>
      </p:sp>
      <p:sp>
        <p:nvSpPr>
          <p:cNvPr id="13" name="Rectangle 12"/>
          <p:cNvSpPr/>
          <p:nvPr/>
        </p:nvSpPr>
        <p:spPr>
          <a:xfrm>
            <a:off x="3840480" y="1143000"/>
            <a:ext cx="1600200" cy="2103120"/>
          </a:xfrm>
          <a:prstGeom prst="rect">
            <a:avLst/>
          </a:prstGeom>
          <a:solidFill>
            <a:srgbClr val="263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31920" y="1280160"/>
            <a:ext cx="1417320" cy="685800"/>
          </a:xfrm>
          <a:prstGeom prst="rect">
            <a:avLst/>
          </a:prstGeom>
          <a:noFill/>
        </p:spPr>
        <p:txBody>
          <a:bodyPr wrap="square">
            <a:spAutoFit/>
          </a:bodyPr>
          <a:lstStyle/>
          <a:p>
            <a:pPr algn="ctr"/>
            <a:r>
              <a:rPr sz="2800" b="1" i="0">
                <a:solidFill>
                  <a:srgbClr val="F5C518"/>
                </a:solidFill>
                <a:latin typeface="Calibri"/>
              </a:rPr>
              <a:t>60 days</a:t>
            </a:r>
          </a:p>
        </p:txBody>
      </p:sp>
      <p:sp>
        <p:nvSpPr>
          <p:cNvPr id="15" name="TextBox 14"/>
          <p:cNvSpPr txBox="1"/>
          <p:nvPr/>
        </p:nvSpPr>
        <p:spPr>
          <a:xfrm>
            <a:off x="3913632" y="1965960"/>
            <a:ext cx="1453896" cy="457200"/>
          </a:xfrm>
          <a:prstGeom prst="rect">
            <a:avLst/>
          </a:prstGeom>
          <a:noFill/>
        </p:spPr>
        <p:txBody>
          <a:bodyPr wrap="square">
            <a:spAutoFit/>
          </a:bodyPr>
          <a:lstStyle/>
          <a:p>
            <a:pPr algn="ctr"/>
            <a:r>
              <a:rPr sz="1500" b="1" i="0">
                <a:solidFill>
                  <a:srgbClr val="FFFFFF"/>
                </a:solidFill>
                <a:latin typeface="Calibri"/>
              </a:rPr>
              <a:t>HHS breach notification filed</a:t>
            </a:r>
          </a:p>
        </p:txBody>
      </p:sp>
      <p:sp>
        <p:nvSpPr>
          <p:cNvPr id="16" name="TextBox 15"/>
          <p:cNvSpPr txBox="1"/>
          <p:nvPr/>
        </p:nvSpPr>
        <p:spPr>
          <a:xfrm>
            <a:off x="3913632" y="2404872"/>
            <a:ext cx="1453896" cy="640080"/>
          </a:xfrm>
          <a:prstGeom prst="rect">
            <a:avLst/>
          </a:prstGeom>
          <a:noFill/>
        </p:spPr>
        <p:txBody>
          <a:bodyPr wrap="square">
            <a:spAutoFit/>
          </a:bodyPr>
          <a:lstStyle/>
          <a:p>
            <a:pPr algn="ctr"/>
            <a:r>
              <a:rPr sz="1500" b="0" i="1">
                <a:solidFill>
                  <a:srgbClr val="CADCFC"/>
                </a:solidFill>
                <a:latin typeface="Calibri"/>
              </a:rPr>
              <a:t>Managed Care · no regulatory deficiencies</a:t>
            </a:r>
          </a:p>
        </p:txBody>
      </p:sp>
      <p:sp>
        <p:nvSpPr>
          <p:cNvPr id="17" name="Rectangle 16"/>
          <p:cNvSpPr/>
          <p:nvPr/>
        </p:nvSpPr>
        <p:spPr>
          <a:xfrm>
            <a:off x="5623560" y="1143000"/>
            <a:ext cx="1600200" cy="2103120"/>
          </a:xfrm>
          <a:prstGeom prst="rect">
            <a:avLst/>
          </a:prstGeom>
          <a:solidFill>
            <a:srgbClr val="263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15000" y="1280160"/>
            <a:ext cx="1417320" cy="685800"/>
          </a:xfrm>
          <a:prstGeom prst="rect">
            <a:avLst/>
          </a:prstGeom>
          <a:noFill/>
        </p:spPr>
        <p:txBody>
          <a:bodyPr wrap="square">
            <a:spAutoFit/>
          </a:bodyPr>
          <a:lstStyle/>
          <a:p>
            <a:pPr algn="ctr"/>
            <a:r>
              <a:rPr sz="2800" b="1" i="0">
                <a:solidFill>
                  <a:srgbClr val="F5C518"/>
                </a:solidFill>
                <a:latin typeface="Calibri"/>
              </a:rPr>
              <a:t>0</a:t>
            </a:r>
          </a:p>
        </p:txBody>
      </p:sp>
      <p:sp>
        <p:nvSpPr>
          <p:cNvPr id="19" name="TextBox 18"/>
          <p:cNvSpPr txBox="1"/>
          <p:nvPr/>
        </p:nvSpPr>
        <p:spPr>
          <a:xfrm>
            <a:off x="5696712" y="1965960"/>
            <a:ext cx="1453896" cy="457200"/>
          </a:xfrm>
          <a:prstGeom prst="rect">
            <a:avLst/>
          </a:prstGeom>
          <a:noFill/>
        </p:spPr>
        <p:txBody>
          <a:bodyPr wrap="square">
            <a:spAutoFit/>
          </a:bodyPr>
          <a:lstStyle/>
          <a:p>
            <a:pPr algn="ctr"/>
            <a:r>
              <a:rPr sz="1500" b="1" i="0">
                <a:solidFill>
                  <a:srgbClr val="FFFFFF"/>
                </a:solidFill>
                <a:latin typeface="Calibri"/>
              </a:rPr>
              <a:t>Revision requests on FISMA report</a:t>
            </a:r>
          </a:p>
        </p:txBody>
      </p:sp>
      <p:sp>
        <p:nvSpPr>
          <p:cNvPr id="20" name="TextBox 19"/>
          <p:cNvSpPr txBox="1"/>
          <p:nvPr/>
        </p:nvSpPr>
        <p:spPr>
          <a:xfrm>
            <a:off x="5696712" y="2404872"/>
            <a:ext cx="1453896" cy="640080"/>
          </a:xfrm>
          <a:prstGeom prst="rect">
            <a:avLst/>
          </a:prstGeom>
          <a:noFill/>
        </p:spPr>
        <p:txBody>
          <a:bodyPr wrap="square">
            <a:spAutoFit/>
          </a:bodyPr>
          <a:lstStyle/>
          <a:p>
            <a:pPr algn="ctr"/>
            <a:r>
              <a:rPr sz="1500" b="0" i="1">
                <a:solidFill>
                  <a:srgbClr val="CADCFC"/>
                </a:solidFill>
                <a:latin typeface="Calibri"/>
              </a:rPr>
              <a:t>Federal Agency · 2 actions funded</a:t>
            </a:r>
          </a:p>
        </p:txBody>
      </p:sp>
      <p:sp>
        <p:nvSpPr>
          <p:cNvPr id="21" name="Rectangle 20"/>
          <p:cNvSpPr/>
          <p:nvPr/>
        </p:nvSpPr>
        <p:spPr>
          <a:xfrm>
            <a:off x="274320" y="3520440"/>
            <a:ext cx="2148840" cy="2103120"/>
          </a:xfrm>
          <a:prstGeom prst="rect">
            <a:avLst/>
          </a:prstGeom>
          <a:solidFill>
            <a:srgbClr val="263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3657600"/>
            <a:ext cx="1965960" cy="685800"/>
          </a:xfrm>
          <a:prstGeom prst="rect">
            <a:avLst/>
          </a:prstGeom>
          <a:noFill/>
        </p:spPr>
        <p:txBody>
          <a:bodyPr wrap="square">
            <a:spAutoFit/>
          </a:bodyPr>
          <a:lstStyle/>
          <a:p>
            <a:pPr algn="ctr"/>
            <a:r>
              <a:rPr sz="2800" b="1" i="0">
                <a:solidFill>
                  <a:srgbClr val="F5C518"/>
                </a:solidFill>
                <a:latin typeface="Calibri"/>
              </a:rPr>
              <a:t>40%</a:t>
            </a:r>
          </a:p>
        </p:txBody>
      </p:sp>
      <p:sp>
        <p:nvSpPr>
          <p:cNvPr id="23" name="TextBox 22"/>
          <p:cNvSpPr txBox="1"/>
          <p:nvPr/>
        </p:nvSpPr>
        <p:spPr>
          <a:xfrm>
            <a:off x="347472" y="4343400"/>
            <a:ext cx="2002536" cy="457200"/>
          </a:xfrm>
          <a:prstGeom prst="rect">
            <a:avLst/>
          </a:prstGeom>
          <a:noFill/>
        </p:spPr>
        <p:txBody>
          <a:bodyPr wrap="square">
            <a:spAutoFit/>
          </a:bodyPr>
          <a:lstStyle/>
          <a:p>
            <a:pPr algn="ctr"/>
            <a:r>
              <a:rPr sz="1500" b="1" i="0">
                <a:solidFill>
                  <a:srgbClr val="FFFFFF"/>
                </a:solidFill>
                <a:latin typeface="Calibri"/>
              </a:rPr>
              <a:t>Reduction in audit evidence requests</a:t>
            </a:r>
          </a:p>
        </p:txBody>
      </p:sp>
      <p:sp>
        <p:nvSpPr>
          <p:cNvPr id="24" name="TextBox 23"/>
          <p:cNvSpPr txBox="1"/>
          <p:nvPr/>
        </p:nvSpPr>
        <p:spPr>
          <a:xfrm>
            <a:off x="347472" y="4782312"/>
            <a:ext cx="2002536" cy="640080"/>
          </a:xfrm>
          <a:prstGeom prst="rect">
            <a:avLst/>
          </a:prstGeom>
          <a:noFill/>
        </p:spPr>
        <p:txBody>
          <a:bodyPr wrap="square">
            <a:spAutoFit/>
          </a:bodyPr>
          <a:lstStyle/>
          <a:p>
            <a:pPr algn="ctr"/>
            <a:r>
              <a:rPr sz="1500" b="0" i="1">
                <a:solidFill>
                  <a:srgbClr val="CADCFC"/>
                </a:solidFill>
                <a:latin typeface="Calibri"/>
              </a:rPr>
              <a:t>FedRAMP Contractor · submission on time</a:t>
            </a:r>
          </a:p>
        </p:txBody>
      </p:sp>
      <p:sp>
        <p:nvSpPr>
          <p:cNvPr id="25" name="Rectangle 24"/>
          <p:cNvSpPr/>
          <p:nvPr/>
        </p:nvSpPr>
        <p:spPr>
          <a:xfrm>
            <a:off x="2606040" y="3520440"/>
            <a:ext cx="2148840" cy="2103120"/>
          </a:xfrm>
          <a:prstGeom prst="rect">
            <a:avLst/>
          </a:prstGeom>
          <a:solidFill>
            <a:srgbClr val="263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97480" y="3657600"/>
            <a:ext cx="1965960" cy="685800"/>
          </a:xfrm>
          <a:prstGeom prst="rect">
            <a:avLst/>
          </a:prstGeom>
          <a:noFill/>
        </p:spPr>
        <p:txBody>
          <a:bodyPr wrap="square">
            <a:spAutoFit/>
          </a:bodyPr>
          <a:lstStyle/>
          <a:p>
            <a:pPr algn="ctr"/>
            <a:r>
              <a:rPr sz="2800" b="1" i="0">
                <a:solidFill>
                  <a:srgbClr val="F5C518"/>
                </a:solidFill>
                <a:latin typeface="Calibri"/>
              </a:rPr>
              <a:t>23→9%</a:t>
            </a:r>
          </a:p>
        </p:txBody>
      </p:sp>
      <p:sp>
        <p:nvSpPr>
          <p:cNvPr id="27" name="TextBox 26"/>
          <p:cNvSpPr txBox="1"/>
          <p:nvPr/>
        </p:nvSpPr>
        <p:spPr>
          <a:xfrm>
            <a:off x="2679192" y="4343400"/>
            <a:ext cx="2002536" cy="457200"/>
          </a:xfrm>
          <a:prstGeom prst="rect">
            <a:avLst/>
          </a:prstGeom>
          <a:noFill/>
        </p:spPr>
        <p:txBody>
          <a:bodyPr wrap="square">
            <a:spAutoFit/>
          </a:bodyPr>
          <a:lstStyle/>
          <a:p>
            <a:pPr algn="ctr"/>
            <a:r>
              <a:rPr sz="1500" b="1" i="0">
                <a:solidFill>
                  <a:srgbClr val="FFFFFF"/>
                </a:solidFill>
                <a:latin typeface="Calibri"/>
              </a:rPr>
              <a:t>Phishing click rate reduced</a:t>
            </a:r>
          </a:p>
        </p:txBody>
      </p:sp>
      <p:sp>
        <p:nvSpPr>
          <p:cNvPr id="28" name="TextBox 27"/>
          <p:cNvSpPr txBox="1"/>
          <p:nvPr/>
        </p:nvSpPr>
        <p:spPr>
          <a:xfrm>
            <a:off x="2679192" y="4782312"/>
            <a:ext cx="2002536" cy="640080"/>
          </a:xfrm>
          <a:prstGeom prst="rect">
            <a:avLst/>
          </a:prstGeom>
          <a:noFill/>
        </p:spPr>
        <p:txBody>
          <a:bodyPr wrap="square">
            <a:spAutoFit/>
          </a:bodyPr>
          <a:lstStyle/>
          <a:p>
            <a:pPr algn="ctr"/>
            <a:r>
              <a:rPr sz="1500" b="0" i="1">
                <a:solidFill>
                  <a:srgbClr val="CADCFC"/>
                </a:solidFill>
                <a:latin typeface="Calibri"/>
              </a:rPr>
              <a:t>P&amp;C Insurance · regulator cited as best practice</a:t>
            </a:r>
          </a:p>
        </p:txBody>
      </p:sp>
      <p:sp>
        <p:nvSpPr>
          <p:cNvPr id="29" name="Rectangle 28"/>
          <p:cNvSpPr/>
          <p:nvPr/>
        </p:nvSpPr>
        <p:spPr>
          <a:xfrm>
            <a:off x="4937760" y="3520440"/>
            <a:ext cx="2148840" cy="2103120"/>
          </a:xfrm>
          <a:prstGeom prst="rect">
            <a:avLst/>
          </a:prstGeom>
          <a:solidFill>
            <a:srgbClr val="263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0" y="3657600"/>
            <a:ext cx="1965960" cy="685800"/>
          </a:xfrm>
          <a:prstGeom prst="rect">
            <a:avLst/>
          </a:prstGeom>
          <a:noFill/>
        </p:spPr>
        <p:txBody>
          <a:bodyPr wrap="square">
            <a:spAutoFit/>
          </a:bodyPr>
          <a:lstStyle/>
          <a:p>
            <a:pPr algn="ctr"/>
            <a:r>
              <a:rPr sz="2800" b="1" i="0">
                <a:solidFill>
                  <a:srgbClr val="F5C518"/>
                </a:solidFill>
                <a:latin typeface="Calibri"/>
              </a:rPr>
              <a:t>ATO ✓</a:t>
            </a:r>
          </a:p>
        </p:txBody>
      </p:sp>
      <p:sp>
        <p:nvSpPr>
          <p:cNvPr id="31" name="TextBox 30"/>
          <p:cNvSpPr txBox="1"/>
          <p:nvPr/>
        </p:nvSpPr>
        <p:spPr>
          <a:xfrm>
            <a:off x="5010912" y="4343400"/>
            <a:ext cx="2002536" cy="457200"/>
          </a:xfrm>
          <a:prstGeom prst="rect">
            <a:avLst/>
          </a:prstGeom>
          <a:noFill/>
        </p:spPr>
        <p:txBody>
          <a:bodyPr wrap="square">
            <a:spAutoFit/>
          </a:bodyPr>
          <a:lstStyle/>
          <a:p>
            <a:pPr algn="ctr"/>
            <a:r>
              <a:rPr sz="1500" b="1" i="0">
                <a:solidFill>
                  <a:srgbClr val="FFFFFF"/>
                </a:solidFill>
                <a:latin typeface="Calibri"/>
              </a:rPr>
              <a:t>Reauthorization approved</a:t>
            </a:r>
          </a:p>
        </p:txBody>
      </p:sp>
      <p:sp>
        <p:nvSpPr>
          <p:cNvPr id="32" name="TextBox 31"/>
          <p:cNvSpPr txBox="1"/>
          <p:nvPr/>
        </p:nvSpPr>
        <p:spPr>
          <a:xfrm>
            <a:off x="5010912" y="4782312"/>
            <a:ext cx="2002536" cy="640080"/>
          </a:xfrm>
          <a:prstGeom prst="rect">
            <a:avLst/>
          </a:prstGeom>
          <a:noFill/>
        </p:spPr>
        <p:txBody>
          <a:bodyPr wrap="square">
            <a:spAutoFit/>
          </a:bodyPr>
          <a:lstStyle/>
          <a:p>
            <a:pPr algn="ctr"/>
            <a:r>
              <a:rPr sz="1500" b="0" i="1">
                <a:solidFill>
                  <a:srgbClr val="CADCFC"/>
                </a:solidFill>
                <a:latin typeface="Calibri"/>
              </a:rPr>
              <a:t>Federal Health Contractor · AO noted program maturity</a:t>
            </a:r>
          </a:p>
        </p:txBody>
      </p:sp>
      <p:sp>
        <p:nvSpPr>
          <p:cNvPr id="33" name="TextBox 32"/>
          <p:cNvSpPr txBox="1"/>
          <p:nvPr/>
        </p:nvSpPr>
        <p:spPr>
          <a:xfrm>
            <a:off x="365760" y="6400800"/>
            <a:ext cx="11430000" cy="384048"/>
          </a:xfrm>
          <a:prstGeom prst="rect">
            <a:avLst/>
          </a:prstGeom>
          <a:noFill/>
        </p:spPr>
        <p:txBody>
          <a:bodyPr wrap="square">
            <a:spAutoFit/>
          </a:bodyPr>
          <a:lstStyle/>
          <a:p>
            <a:pPr algn="ctr"/>
            <a:r>
              <a:rPr sz="1800" b="0" i="1">
                <a:solidFill>
                  <a:srgbClr val="CADCFC"/>
                </a:solidFill>
                <a:latin typeface="Calibri"/>
              </a:rPr>
              <a:t>Every result above is reproducible. Given the opportunity, I will deliver the same rigor, collaboration, and measurable outcomes for your team.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972800" cy="1828800"/>
          </a:xfrm>
          <a:prstGeom prst="rect">
            <a:avLst/>
          </a:prstGeom>
          <a:noFill/>
        </p:spPr>
        <p:txBody>
          <a:bodyPr wrap="square">
            <a:spAutoFit/>
          </a:bodyPr>
          <a:lstStyle/>
          <a:p>
            <a:pPr algn="l"/>
            <a:r>
              <a:rPr sz="4800" b="1" i="0">
                <a:solidFill>
                  <a:srgbClr val="FFFFFF"/>
                </a:solidFill>
                <a:latin typeface="Calibri"/>
              </a:rPr>
              <a:t>Let's Build Something
You Can Audit.</a:t>
            </a:r>
          </a:p>
        </p:txBody>
      </p:sp>
      <p:sp>
        <p:nvSpPr>
          <p:cNvPr id="4" name="Rectangle 3"/>
          <p:cNvSpPr/>
          <p:nvPr/>
        </p:nvSpPr>
        <p:spPr>
          <a:xfrm>
            <a:off x="548640" y="2834640"/>
            <a:ext cx="5029200" cy="64008"/>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3063240"/>
            <a:ext cx="10058400" cy="1371600"/>
          </a:xfrm>
          <a:prstGeom prst="rect">
            <a:avLst/>
          </a:prstGeom>
          <a:noFill/>
        </p:spPr>
        <p:txBody>
          <a:bodyPr wrap="square">
            <a:spAutoFit/>
          </a:bodyPr>
          <a:lstStyle/>
          <a:p>
            <a:pPr algn="l">
              <a:spcAft>
                <a:spcPts val="1000"/>
              </a:spcAft>
            </a:pPr>
            <a:r>
              <a:rPr sz="1800">
                <a:solidFill>
                  <a:srgbClr val="CADCFC"/>
                </a:solidFill>
                <a:latin typeface="Calibri"/>
              </a:rPr>
              <a:t>Portfolio:  github.com/AnelHenning2-collab/grc-analyst-portfolio</a:t>
            </a:r>
          </a:p>
          <a:p>
            <a:pPr algn="l">
              <a:spcAft>
                <a:spcPts val="1000"/>
              </a:spcAft>
            </a:pPr>
            <a:r>
              <a:rPr sz="1800">
                <a:solidFill>
                  <a:srgbClr val="CADCFC"/>
                </a:solidFill>
                <a:latin typeface="Calibri"/>
              </a:rPr>
              <a:t>Site:        anelhenning2-collab.github.io/grc-analyst-portfolio</a:t>
            </a:r>
          </a:p>
          <a:p>
            <a:pPr algn="l">
              <a:spcAft>
                <a:spcPts val="1000"/>
              </a:spcAft>
            </a:pPr>
            <a:r>
              <a:rPr sz="1800">
                <a:solidFill>
                  <a:srgbClr val="CADCFC"/>
                </a:solidFill>
                <a:latin typeface="Calibri"/>
              </a:rPr>
              <a:t>Email:      logicalcoders@outlook.com</a:t>
            </a:r>
          </a:p>
        </p:txBody>
      </p:sp>
      <p:sp>
        <p:nvSpPr>
          <p:cNvPr id="6" name="TextBox 5"/>
          <p:cNvSpPr txBox="1"/>
          <p:nvPr/>
        </p:nvSpPr>
        <p:spPr>
          <a:xfrm>
            <a:off x="594360" y="4663440"/>
            <a:ext cx="4572000" cy="365760"/>
          </a:xfrm>
          <a:prstGeom prst="rect">
            <a:avLst/>
          </a:prstGeom>
          <a:noFill/>
        </p:spPr>
        <p:txBody>
          <a:bodyPr wrap="square">
            <a:spAutoFit/>
          </a:bodyPr>
          <a:lstStyle/>
          <a:p>
            <a:pPr algn="l"/>
            <a:r>
              <a:rPr sz="1500" b="1" i="0">
                <a:solidFill>
                  <a:srgbClr val="CADCFC"/>
                </a:solidFill>
                <a:latin typeface="Calibri"/>
              </a:rPr>
              <a:t>Frameworks I work in:</a:t>
            </a:r>
          </a:p>
        </p:txBody>
      </p:sp>
      <p:sp>
        <p:nvSpPr>
          <p:cNvPr id="7" name="Rounded Rectangle 6"/>
          <p:cNvSpPr/>
          <p:nvPr/>
        </p:nvSpPr>
        <p:spPr>
          <a:xfrm>
            <a:off x="594360" y="5074920"/>
            <a:ext cx="2468880" cy="347472"/>
          </a:xfrm>
          <a:prstGeom prst="round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5111496"/>
            <a:ext cx="2331720" cy="292608"/>
          </a:xfrm>
          <a:prstGeom prst="rect">
            <a:avLst/>
          </a:prstGeom>
          <a:noFill/>
        </p:spPr>
        <p:txBody>
          <a:bodyPr wrap="square">
            <a:spAutoFit/>
          </a:bodyPr>
          <a:lstStyle/>
          <a:p>
            <a:pPr algn="ctr"/>
            <a:r>
              <a:rPr sz="1800" b="1" i="0">
                <a:solidFill>
                  <a:srgbClr val="FFFFFF"/>
                </a:solidFill>
                <a:latin typeface="Calibri"/>
              </a:rPr>
              <a:t>NIST CSF 2.0</a:t>
            </a:r>
          </a:p>
        </p:txBody>
      </p:sp>
      <p:sp>
        <p:nvSpPr>
          <p:cNvPr id="9" name="Rounded Rectangle 8"/>
          <p:cNvSpPr/>
          <p:nvPr/>
        </p:nvSpPr>
        <p:spPr>
          <a:xfrm>
            <a:off x="3429000" y="5074920"/>
            <a:ext cx="2468880" cy="347472"/>
          </a:xfrm>
          <a:prstGeom prst="round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02152" y="5111496"/>
            <a:ext cx="2331720" cy="292608"/>
          </a:xfrm>
          <a:prstGeom prst="rect">
            <a:avLst/>
          </a:prstGeom>
          <a:noFill/>
        </p:spPr>
        <p:txBody>
          <a:bodyPr wrap="square">
            <a:spAutoFit/>
          </a:bodyPr>
          <a:lstStyle/>
          <a:p>
            <a:pPr algn="ctr"/>
            <a:r>
              <a:rPr sz="1800" b="1" i="0">
                <a:solidFill>
                  <a:srgbClr val="FFFFFF"/>
                </a:solidFill>
                <a:latin typeface="Calibri"/>
              </a:rPr>
              <a:t>NIST 800-53 Rev.5</a:t>
            </a:r>
          </a:p>
        </p:txBody>
      </p:sp>
      <p:sp>
        <p:nvSpPr>
          <p:cNvPr id="11" name="Rounded Rectangle 10"/>
          <p:cNvSpPr/>
          <p:nvPr/>
        </p:nvSpPr>
        <p:spPr>
          <a:xfrm>
            <a:off x="6263640" y="5074920"/>
            <a:ext cx="2468880" cy="347472"/>
          </a:xfrm>
          <a:prstGeom prst="round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5111496"/>
            <a:ext cx="2331720" cy="292608"/>
          </a:xfrm>
          <a:prstGeom prst="rect">
            <a:avLst/>
          </a:prstGeom>
          <a:noFill/>
        </p:spPr>
        <p:txBody>
          <a:bodyPr wrap="square">
            <a:spAutoFit/>
          </a:bodyPr>
          <a:lstStyle/>
          <a:p>
            <a:pPr algn="ctr"/>
            <a:r>
              <a:rPr sz="1800" b="1" i="0">
                <a:solidFill>
                  <a:srgbClr val="FFFFFF"/>
                </a:solidFill>
                <a:latin typeface="Calibri"/>
              </a:rPr>
              <a:t>ISO 27001:2022</a:t>
            </a:r>
          </a:p>
        </p:txBody>
      </p:sp>
      <p:sp>
        <p:nvSpPr>
          <p:cNvPr id="13" name="Rounded Rectangle 12"/>
          <p:cNvSpPr/>
          <p:nvPr/>
        </p:nvSpPr>
        <p:spPr>
          <a:xfrm>
            <a:off x="9098280" y="5074920"/>
            <a:ext cx="2468880" cy="347472"/>
          </a:xfrm>
          <a:prstGeom prst="round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1432" y="5111496"/>
            <a:ext cx="2331720" cy="292608"/>
          </a:xfrm>
          <a:prstGeom prst="rect">
            <a:avLst/>
          </a:prstGeom>
          <a:noFill/>
        </p:spPr>
        <p:txBody>
          <a:bodyPr wrap="square">
            <a:spAutoFit/>
          </a:bodyPr>
          <a:lstStyle/>
          <a:p>
            <a:pPr algn="ctr"/>
            <a:r>
              <a:rPr sz="1800" b="1" i="0">
                <a:solidFill>
                  <a:srgbClr val="FFFFFF"/>
                </a:solidFill>
                <a:latin typeface="Calibri"/>
              </a:rPr>
              <a:t>SOC 2 TSC</a:t>
            </a:r>
          </a:p>
        </p:txBody>
      </p:sp>
      <p:sp>
        <p:nvSpPr>
          <p:cNvPr id="15" name="Rounded Rectangle 14"/>
          <p:cNvSpPr/>
          <p:nvPr/>
        </p:nvSpPr>
        <p:spPr>
          <a:xfrm>
            <a:off x="594360" y="5532120"/>
            <a:ext cx="2468880" cy="347472"/>
          </a:xfrm>
          <a:prstGeom prst="roundRect">
            <a:avLst/>
          </a:prstGeom>
          <a:solidFill>
            <a:srgbClr val="175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568696"/>
            <a:ext cx="2331720" cy="292608"/>
          </a:xfrm>
          <a:prstGeom prst="rect">
            <a:avLst/>
          </a:prstGeom>
          <a:noFill/>
        </p:spPr>
        <p:txBody>
          <a:bodyPr wrap="square">
            <a:spAutoFit/>
          </a:bodyPr>
          <a:lstStyle/>
          <a:p>
            <a:pPr algn="ctr"/>
            <a:r>
              <a:rPr sz="1800" b="1" i="0">
                <a:solidFill>
                  <a:srgbClr val="FFFFFF"/>
                </a:solidFill>
                <a:latin typeface="Calibri"/>
              </a:rPr>
              <a:t>HIPAA</a:t>
            </a:r>
          </a:p>
        </p:txBody>
      </p:sp>
      <p:sp>
        <p:nvSpPr>
          <p:cNvPr id="17" name="Rounded Rectangle 16"/>
          <p:cNvSpPr/>
          <p:nvPr/>
        </p:nvSpPr>
        <p:spPr>
          <a:xfrm>
            <a:off x="3429000" y="5532120"/>
            <a:ext cx="2468880" cy="347472"/>
          </a:xfrm>
          <a:prstGeom prst="roundRect">
            <a:avLst/>
          </a:prstGeom>
          <a:solidFill>
            <a:srgbClr val="175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152" y="5568696"/>
            <a:ext cx="2331720" cy="292608"/>
          </a:xfrm>
          <a:prstGeom prst="rect">
            <a:avLst/>
          </a:prstGeom>
          <a:noFill/>
        </p:spPr>
        <p:txBody>
          <a:bodyPr wrap="square">
            <a:spAutoFit/>
          </a:bodyPr>
          <a:lstStyle/>
          <a:p>
            <a:pPr algn="ctr"/>
            <a:r>
              <a:rPr sz="1800" b="1" i="0">
                <a:solidFill>
                  <a:srgbClr val="FFFFFF"/>
                </a:solidFill>
                <a:latin typeface="Calibri"/>
              </a:rPr>
              <a:t>NAIC Model Law</a:t>
            </a:r>
          </a:p>
        </p:txBody>
      </p:sp>
      <p:sp>
        <p:nvSpPr>
          <p:cNvPr id="19" name="Rounded Rectangle 18"/>
          <p:cNvSpPr/>
          <p:nvPr/>
        </p:nvSpPr>
        <p:spPr>
          <a:xfrm>
            <a:off x="6263640" y="5532120"/>
            <a:ext cx="2468880" cy="347472"/>
          </a:xfrm>
          <a:prstGeom prst="roundRect">
            <a:avLst/>
          </a:prstGeom>
          <a:solidFill>
            <a:srgbClr val="175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6792" y="5568696"/>
            <a:ext cx="2331720" cy="292608"/>
          </a:xfrm>
          <a:prstGeom prst="rect">
            <a:avLst/>
          </a:prstGeom>
          <a:noFill/>
        </p:spPr>
        <p:txBody>
          <a:bodyPr wrap="square">
            <a:spAutoFit/>
          </a:bodyPr>
          <a:lstStyle/>
          <a:p>
            <a:pPr algn="ctr"/>
            <a:r>
              <a:rPr sz="1800" b="1" i="0">
                <a:solidFill>
                  <a:srgbClr val="FFFFFF"/>
                </a:solidFill>
                <a:latin typeface="Calibri"/>
              </a:rPr>
              <a:t>FedRAMP</a:t>
            </a:r>
          </a:p>
        </p:txBody>
      </p:sp>
      <p:sp>
        <p:nvSpPr>
          <p:cNvPr id="21" name="Rounded Rectangle 20"/>
          <p:cNvSpPr/>
          <p:nvPr/>
        </p:nvSpPr>
        <p:spPr>
          <a:xfrm>
            <a:off x="9098280" y="5532120"/>
            <a:ext cx="2468880" cy="347472"/>
          </a:xfrm>
          <a:prstGeom prst="roundRect">
            <a:avLst/>
          </a:prstGeom>
          <a:solidFill>
            <a:srgbClr val="175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71432" y="5568696"/>
            <a:ext cx="2331720" cy="292608"/>
          </a:xfrm>
          <a:prstGeom prst="rect">
            <a:avLst/>
          </a:prstGeom>
          <a:noFill/>
        </p:spPr>
        <p:txBody>
          <a:bodyPr wrap="square">
            <a:spAutoFit/>
          </a:bodyPr>
          <a:lstStyle/>
          <a:p>
            <a:pPr algn="ctr"/>
            <a:r>
              <a:rPr sz="1800" b="1" i="0">
                <a:solidFill>
                  <a:srgbClr val="FFFFFF"/>
                </a:solidFill>
                <a:latin typeface="Calibri"/>
              </a:rPr>
              <a:t>FISMA</a:t>
            </a:r>
          </a:p>
        </p:txBody>
      </p:sp>
      <p:sp>
        <p:nvSpPr>
          <p:cNvPr id="23" name="TextBox 22"/>
          <p:cNvSpPr txBox="1"/>
          <p:nvPr/>
        </p:nvSpPr>
        <p:spPr>
          <a:xfrm>
            <a:off x="594360" y="6473952"/>
            <a:ext cx="10972800" cy="347472"/>
          </a:xfrm>
          <a:prstGeom prst="rect">
            <a:avLst/>
          </a:prstGeom>
          <a:noFill/>
        </p:spPr>
        <p:txBody>
          <a:bodyPr wrap="square">
            <a:spAutoFit/>
          </a:bodyPr>
          <a:lstStyle/>
          <a:p>
            <a:pPr algn="l"/>
            <a:r>
              <a:rPr sz="1800" b="0" i="1">
                <a:solidFill>
                  <a:srgbClr val="55657A"/>
                </a:solidFill>
                <a:latin typeface="Calibri"/>
              </a:rPr>
              <a:t>"Security is a team sport — and I show up ready to play."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